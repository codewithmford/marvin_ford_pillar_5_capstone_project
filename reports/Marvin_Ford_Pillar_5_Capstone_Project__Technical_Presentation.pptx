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73" r:id="rId3"/>
    <p:sldId id="274" r:id="rId4"/>
    <p:sldId id="260" r:id="rId5"/>
    <p:sldId id="259" r:id="rId6"/>
    <p:sldId id="261" r:id="rId7"/>
    <p:sldId id="265" r:id="rId8"/>
    <p:sldId id="264" r:id="rId9"/>
    <p:sldId id="266" r:id="rId10"/>
    <p:sldId id="270" r:id="rId11"/>
    <p:sldId id="269" r:id="rId12"/>
    <p:sldId id="271"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0060F"/>
    <a:srgbClr val="E5091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88" autoAdjust="0"/>
    <p:restoredTop sz="94660"/>
  </p:normalViewPr>
  <p:slideViewPr>
    <p:cSldViewPr snapToGrid="0">
      <p:cViewPr>
        <p:scale>
          <a:sx n="125" d="100"/>
          <a:sy n="125" d="100"/>
        </p:scale>
        <p:origin x="90" y="7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7A8645-B4E9-43F4-8F5D-F836FED09CF3}" type="datetimeFigureOut">
              <a:rPr lang="en-PH" smtClean="0"/>
              <a:t>25/12/2025</a:t>
            </a:fld>
            <a:endParaRPr lang="en-PH"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9B1F08-FDB6-4F28-BFBC-0873D97F9586}" type="slidenum">
              <a:rPr lang="en-PH" smtClean="0"/>
              <a:t>‹#›</a:t>
            </a:fld>
            <a:endParaRPr lang="en-PH" dirty="0"/>
          </a:p>
        </p:txBody>
      </p:sp>
    </p:spTree>
    <p:extLst>
      <p:ext uri="{BB962C8B-B14F-4D97-AF65-F5344CB8AC3E}">
        <p14:creationId xmlns:p14="http://schemas.microsoft.com/office/powerpoint/2010/main" val="12629602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H" dirty="0"/>
          </a:p>
        </p:txBody>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9E9B1F08-FDB6-4F28-BFBC-0873D97F9586}" type="slidenum">
              <a:rPr lang="en-PH" smtClean="0"/>
              <a:t>8</a:t>
            </a:fld>
            <a:endParaRPr lang="en-PH" dirty="0"/>
          </a:p>
        </p:txBody>
      </p:sp>
    </p:spTree>
    <p:extLst>
      <p:ext uri="{BB962C8B-B14F-4D97-AF65-F5344CB8AC3E}">
        <p14:creationId xmlns:p14="http://schemas.microsoft.com/office/powerpoint/2010/main" val="17977126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H" dirty="0"/>
          </a:p>
        </p:txBody>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9E9B1F08-FDB6-4F28-BFBC-0873D97F9586}" type="slidenum">
              <a:rPr lang="en-PH" smtClean="0"/>
              <a:t>9</a:t>
            </a:fld>
            <a:endParaRPr lang="en-PH" dirty="0"/>
          </a:p>
        </p:txBody>
      </p:sp>
    </p:spTree>
    <p:extLst>
      <p:ext uri="{BB962C8B-B14F-4D97-AF65-F5344CB8AC3E}">
        <p14:creationId xmlns:p14="http://schemas.microsoft.com/office/powerpoint/2010/main" val="288847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EE615-38EE-D5DF-CE63-26BA85B2B1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98FA60-0E9E-7F3C-1B6A-5530F70512BD}"/>
              </a:ext>
            </a:extLst>
          </p:cNvPr>
          <p:cNvSpPr>
            <a:spLocks noGrp="1" noRot="1" noChangeAspect="1"/>
          </p:cNvSpPr>
          <p:nvPr>
            <p:ph type="sldImg"/>
          </p:nvPr>
        </p:nvSpPr>
        <p:spPr/>
        <p:txBody>
          <a:bodyPr/>
          <a:lstStyle/>
          <a:p>
            <a:endParaRPr lang="en-PH" dirty="0"/>
          </a:p>
        </p:txBody>
      </p:sp>
      <p:sp>
        <p:nvSpPr>
          <p:cNvPr id="3" name="Notes Placeholder 2">
            <a:extLst>
              <a:ext uri="{FF2B5EF4-FFF2-40B4-BE49-F238E27FC236}">
                <a16:creationId xmlns:a16="http://schemas.microsoft.com/office/drawing/2014/main" id="{A1DEC4EE-10FD-B18B-5DB7-615E6495A654}"/>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95163A3D-6ADE-24AF-4C20-ABAA6BDAC6DB}"/>
              </a:ext>
            </a:extLst>
          </p:cNvPr>
          <p:cNvSpPr>
            <a:spLocks noGrp="1"/>
          </p:cNvSpPr>
          <p:nvPr>
            <p:ph type="sldNum" sz="quarter" idx="5"/>
          </p:nvPr>
        </p:nvSpPr>
        <p:spPr/>
        <p:txBody>
          <a:bodyPr/>
          <a:lstStyle/>
          <a:p>
            <a:fld id="{9E9B1F08-FDB6-4F28-BFBC-0873D97F9586}" type="slidenum">
              <a:rPr lang="en-PH" smtClean="0"/>
              <a:t>10</a:t>
            </a:fld>
            <a:endParaRPr lang="en-PH" dirty="0"/>
          </a:p>
        </p:txBody>
      </p:sp>
    </p:spTree>
    <p:extLst>
      <p:ext uri="{BB962C8B-B14F-4D97-AF65-F5344CB8AC3E}">
        <p14:creationId xmlns:p14="http://schemas.microsoft.com/office/powerpoint/2010/main" val="18201459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7DE56-C13A-B3E4-9F4A-6309965D8E1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H"/>
          </a:p>
        </p:txBody>
      </p:sp>
      <p:sp>
        <p:nvSpPr>
          <p:cNvPr id="3" name="Subtitle 2">
            <a:extLst>
              <a:ext uri="{FF2B5EF4-FFF2-40B4-BE49-F238E27FC236}">
                <a16:creationId xmlns:a16="http://schemas.microsoft.com/office/drawing/2014/main" id="{A88D050E-CC2B-E10D-D798-11D76D20017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H"/>
          </a:p>
        </p:txBody>
      </p:sp>
      <p:sp>
        <p:nvSpPr>
          <p:cNvPr id="4" name="Date Placeholder 3">
            <a:extLst>
              <a:ext uri="{FF2B5EF4-FFF2-40B4-BE49-F238E27FC236}">
                <a16:creationId xmlns:a16="http://schemas.microsoft.com/office/drawing/2014/main" id="{BF94C5BD-956D-1A2E-E0DF-B3C12909B4F5}"/>
              </a:ext>
            </a:extLst>
          </p:cNvPr>
          <p:cNvSpPr>
            <a:spLocks noGrp="1"/>
          </p:cNvSpPr>
          <p:nvPr>
            <p:ph type="dt" sz="half" idx="10"/>
          </p:nvPr>
        </p:nvSpPr>
        <p:spPr/>
        <p:txBody>
          <a:bodyPr/>
          <a:lstStyle/>
          <a:p>
            <a:fld id="{AA07CEAF-65A9-4C48-8EC9-638AE3CE9E6C}" type="datetime1">
              <a:rPr lang="en-PH" smtClean="0"/>
              <a:t>25/12/2025</a:t>
            </a:fld>
            <a:endParaRPr lang="en-PH" dirty="0"/>
          </a:p>
        </p:txBody>
      </p:sp>
      <p:sp>
        <p:nvSpPr>
          <p:cNvPr id="5" name="Footer Placeholder 4">
            <a:extLst>
              <a:ext uri="{FF2B5EF4-FFF2-40B4-BE49-F238E27FC236}">
                <a16:creationId xmlns:a16="http://schemas.microsoft.com/office/drawing/2014/main" id="{EBE8093C-2144-B26D-14BE-C8DD346056D0}"/>
              </a:ext>
            </a:extLst>
          </p:cNvPr>
          <p:cNvSpPr>
            <a:spLocks noGrp="1"/>
          </p:cNvSpPr>
          <p:nvPr>
            <p:ph type="ftr" sz="quarter" idx="11"/>
          </p:nvPr>
        </p:nvSpPr>
        <p:spPr/>
        <p:txBody>
          <a:bodyPr/>
          <a:lstStyle/>
          <a:p>
            <a:endParaRPr lang="en-PH" dirty="0"/>
          </a:p>
        </p:txBody>
      </p:sp>
      <p:sp>
        <p:nvSpPr>
          <p:cNvPr id="6" name="Slide Number Placeholder 5">
            <a:extLst>
              <a:ext uri="{FF2B5EF4-FFF2-40B4-BE49-F238E27FC236}">
                <a16:creationId xmlns:a16="http://schemas.microsoft.com/office/drawing/2014/main" id="{0D730C2D-B362-5522-6F3F-C5E300DF6E0F}"/>
              </a:ext>
            </a:extLst>
          </p:cNvPr>
          <p:cNvSpPr>
            <a:spLocks noGrp="1"/>
          </p:cNvSpPr>
          <p:nvPr>
            <p:ph type="sldNum" sz="quarter" idx="12"/>
          </p:nvPr>
        </p:nvSpPr>
        <p:spPr/>
        <p:txBody>
          <a:bodyPr/>
          <a:lstStyle/>
          <a:p>
            <a:fld id="{BC863EF6-A0EA-4665-B999-CBD75E062146}" type="slidenum">
              <a:rPr lang="en-PH" smtClean="0"/>
              <a:t>‹#›</a:t>
            </a:fld>
            <a:endParaRPr lang="en-PH" dirty="0"/>
          </a:p>
        </p:txBody>
      </p:sp>
    </p:spTree>
    <p:extLst>
      <p:ext uri="{BB962C8B-B14F-4D97-AF65-F5344CB8AC3E}">
        <p14:creationId xmlns:p14="http://schemas.microsoft.com/office/powerpoint/2010/main" val="32635256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7B1BC-A5E5-4A06-E729-2226A814D350}"/>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BF3302B0-100D-3226-29F5-C2C5B05AD3A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2F33C432-F514-93F7-A32D-788A8E4E5F2A}"/>
              </a:ext>
            </a:extLst>
          </p:cNvPr>
          <p:cNvSpPr>
            <a:spLocks noGrp="1"/>
          </p:cNvSpPr>
          <p:nvPr>
            <p:ph type="dt" sz="half" idx="10"/>
          </p:nvPr>
        </p:nvSpPr>
        <p:spPr/>
        <p:txBody>
          <a:bodyPr/>
          <a:lstStyle/>
          <a:p>
            <a:fld id="{2F6EF923-8EC8-45BC-8BCA-D56C6059B38C}" type="datetime1">
              <a:rPr lang="en-PH" smtClean="0"/>
              <a:t>25/12/2025</a:t>
            </a:fld>
            <a:endParaRPr lang="en-PH" dirty="0"/>
          </a:p>
        </p:txBody>
      </p:sp>
      <p:sp>
        <p:nvSpPr>
          <p:cNvPr id="5" name="Footer Placeholder 4">
            <a:extLst>
              <a:ext uri="{FF2B5EF4-FFF2-40B4-BE49-F238E27FC236}">
                <a16:creationId xmlns:a16="http://schemas.microsoft.com/office/drawing/2014/main" id="{668F1E46-A651-00A7-61D8-767E8AE0F027}"/>
              </a:ext>
            </a:extLst>
          </p:cNvPr>
          <p:cNvSpPr>
            <a:spLocks noGrp="1"/>
          </p:cNvSpPr>
          <p:nvPr>
            <p:ph type="ftr" sz="quarter" idx="11"/>
          </p:nvPr>
        </p:nvSpPr>
        <p:spPr/>
        <p:txBody>
          <a:bodyPr/>
          <a:lstStyle/>
          <a:p>
            <a:endParaRPr lang="en-PH" dirty="0"/>
          </a:p>
        </p:txBody>
      </p:sp>
      <p:sp>
        <p:nvSpPr>
          <p:cNvPr id="6" name="Slide Number Placeholder 5">
            <a:extLst>
              <a:ext uri="{FF2B5EF4-FFF2-40B4-BE49-F238E27FC236}">
                <a16:creationId xmlns:a16="http://schemas.microsoft.com/office/drawing/2014/main" id="{E694DD2E-C869-0CCD-256F-2558D3636BC0}"/>
              </a:ext>
            </a:extLst>
          </p:cNvPr>
          <p:cNvSpPr>
            <a:spLocks noGrp="1"/>
          </p:cNvSpPr>
          <p:nvPr>
            <p:ph type="sldNum" sz="quarter" idx="12"/>
          </p:nvPr>
        </p:nvSpPr>
        <p:spPr/>
        <p:txBody>
          <a:bodyPr/>
          <a:lstStyle/>
          <a:p>
            <a:fld id="{BC863EF6-A0EA-4665-B999-CBD75E062146}" type="slidenum">
              <a:rPr lang="en-PH" smtClean="0"/>
              <a:t>‹#›</a:t>
            </a:fld>
            <a:endParaRPr lang="en-PH" dirty="0"/>
          </a:p>
        </p:txBody>
      </p:sp>
    </p:spTree>
    <p:extLst>
      <p:ext uri="{BB962C8B-B14F-4D97-AF65-F5344CB8AC3E}">
        <p14:creationId xmlns:p14="http://schemas.microsoft.com/office/powerpoint/2010/main" val="1335881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51EB7-7C4E-1280-9105-4394870F1C8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H"/>
          </a:p>
        </p:txBody>
      </p:sp>
      <p:sp>
        <p:nvSpPr>
          <p:cNvPr id="3" name="Text Placeholder 2">
            <a:extLst>
              <a:ext uri="{FF2B5EF4-FFF2-40B4-BE49-F238E27FC236}">
                <a16:creationId xmlns:a16="http://schemas.microsoft.com/office/drawing/2014/main" id="{30613446-770F-2A27-6E94-4491AA078F3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C495640-4139-07E5-67E0-56C750E08428}"/>
              </a:ext>
            </a:extLst>
          </p:cNvPr>
          <p:cNvSpPr>
            <a:spLocks noGrp="1"/>
          </p:cNvSpPr>
          <p:nvPr>
            <p:ph type="dt" sz="half" idx="10"/>
          </p:nvPr>
        </p:nvSpPr>
        <p:spPr/>
        <p:txBody>
          <a:bodyPr/>
          <a:lstStyle/>
          <a:p>
            <a:fld id="{8C0C07EE-5DF3-43A9-9BFB-BE6B7C821434}" type="datetime1">
              <a:rPr lang="en-PH" smtClean="0"/>
              <a:t>25/12/2025</a:t>
            </a:fld>
            <a:endParaRPr lang="en-PH" dirty="0"/>
          </a:p>
        </p:txBody>
      </p:sp>
      <p:sp>
        <p:nvSpPr>
          <p:cNvPr id="5" name="Footer Placeholder 4">
            <a:extLst>
              <a:ext uri="{FF2B5EF4-FFF2-40B4-BE49-F238E27FC236}">
                <a16:creationId xmlns:a16="http://schemas.microsoft.com/office/drawing/2014/main" id="{D72E0C80-0966-C846-DF8E-5F2CC0B94924}"/>
              </a:ext>
            </a:extLst>
          </p:cNvPr>
          <p:cNvSpPr>
            <a:spLocks noGrp="1"/>
          </p:cNvSpPr>
          <p:nvPr>
            <p:ph type="ftr" sz="quarter" idx="11"/>
          </p:nvPr>
        </p:nvSpPr>
        <p:spPr/>
        <p:txBody>
          <a:bodyPr/>
          <a:lstStyle/>
          <a:p>
            <a:endParaRPr lang="en-PH" dirty="0"/>
          </a:p>
        </p:txBody>
      </p:sp>
      <p:sp>
        <p:nvSpPr>
          <p:cNvPr id="6" name="Slide Number Placeholder 5">
            <a:extLst>
              <a:ext uri="{FF2B5EF4-FFF2-40B4-BE49-F238E27FC236}">
                <a16:creationId xmlns:a16="http://schemas.microsoft.com/office/drawing/2014/main" id="{D93C628C-0D73-C202-EBD4-FA392A4050E6}"/>
              </a:ext>
            </a:extLst>
          </p:cNvPr>
          <p:cNvSpPr>
            <a:spLocks noGrp="1"/>
          </p:cNvSpPr>
          <p:nvPr>
            <p:ph type="sldNum" sz="quarter" idx="12"/>
          </p:nvPr>
        </p:nvSpPr>
        <p:spPr/>
        <p:txBody>
          <a:bodyPr/>
          <a:lstStyle/>
          <a:p>
            <a:fld id="{BC863EF6-A0EA-4665-B999-CBD75E062146}" type="slidenum">
              <a:rPr lang="en-PH" smtClean="0"/>
              <a:t>‹#›</a:t>
            </a:fld>
            <a:endParaRPr lang="en-PH" dirty="0"/>
          </a:p>
        </p:txBody>
      </p:sp>
    </p:spTree>
    <p:extLst>
      <p:ext uri="{BB962C8B-B14F-4D97-AF65-F5344CB8AC3E}">
        <p14:creationId xmlns:p14="http://schemas.microsoft.com/office/powerpoint/2010/main" val="42564660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48638-F9A8-946F-675B-2ECBFF73FED8}"/>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2DB5E59E-C5A1-1AC4-4389-4A2F6E6291F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Content Placeholder 3">
            <a:extLst>
              <a:ext uri="{FF2B5EF4-FFF2-40B4-BE49-F238E27FC236}">
                <a16:creationId xmlns:a16="http://schemas.microsoft.com/office/drawing/2014/main" id="{61CE8885-EB48-1D1C-CF79-64CFD625AF3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Date Placeholder 4">
            <a:extLst>
              <a:ext uri="{FF2B5EF4-FFF2-40B4-BE49-F238E27FC236}">
                <a16:creationId xmlns:a16="http://schemas.microsoft.com/office/drawing/2014/main" id="{5C60A99F-ABA5-3B48-7A39-A2BF5DF5A880}"/>
              </a:ext>
            </a:extLst>
          </p:cNvPr>
          <p:cNvSpPr>
            <a:spLocks noGrp="1"/>
          </p:cNvSpPr>
          <p:nvPr>
            <p:ph type="dt" sz="half" idx="10"/>
          </p:nvPr>
        </p:nvSpPr>
        <p:spPr/>
        <p:txBody>
          <a:bodyPr/>
          <a:lstStyle/>
          <a:p>
            <a:fld id="{350F4282-576F-4BB2-BD70-9C06117146B8}" type="datetime1">
              <a:rPr lang="en-PH" smtClean="0"/>
              <a:t>25/12/2025</a:t>
            </a:fld>
            <a:endParaRPr lang="en-PH" dirty="0"/>
          </a:p>
        </p:txBody>
      </p:sp>
      <p:sp>
        <p:nvSpPr>
          <p:cNvPr id="6" name="Footer Placeholder 5">
            <a:extLst>
              <a:ext uri="{FF2B5EF4-FFF2-40B4-BE49-F238E27FC236}">
                <a16:creationId xmlns:a16="http://schemas.microsoft.com/office/drawing/2014/main" id="{7CCB413E-EE7A-496A-E402-448B0FDD121B}"/>
              </a:ext>
            </a:extLst>
          </p:cNvPr>
          <p:cNvSpPr>
            <a:spLocks noGrp="1"/>
          </p:cNvSpPr>
          <p:nvPr>
            <p:ph type="ftr" sz="quarter" idx="11"/>
          </p:nvPr>
        </p:nvSpPr>
        <p:spPr/>
        <p:txBody>
          <a:bodyPr/>
          <a:lstStyle/>
          <a:p>
            <a:endParaRPr lang="en-PH" dirty="0"/>
          </a:p>
        </p:txBody>
      </p:sp>
      <p:sp>
        <p:nvSpPr>
          <p:cNvPr id="7" name="Slide Number Placeholder 6">
            <a:extLst>
              <a:ext uri="{FF2B5EF4-FFF2-40B4-BE49-F238E27FC236}">
                <a16:creationId xmlns:a16="http://schemas.microsoft.com/office/drawing/2014/main" id="{584754F0-FE4A-F864-74A6-1D22E20DBC09}"/>
              </a:ext>
            </a:extLst>
          </p:cNvPr>
          <p:cNvSpPr>
            <a:spLocks noGrp="1"/>
          </p:cNvSpPr>
          <p:nvPr>
            <p:ph type="sldNum" sz="quarter" idx="12"/>
          </p:nvPr>
        </p:nvSpPr>
        <p:spPr/>
        <p:txBody>
          <a:bodyPr/>
          <a:lstStyle/>
          <a:p>
            <a:fld id="{BC863EF6-A0EA-4665-B999-CBD75E062146}" type="slidenum">
              <a:rPr lang="en-PH" smtClean="0"/>
              <a:t>‹#›</a:t>
            </a:fld>
            <a:endParaRPr lang="en-PH" dirty="0"/>
          </a:p>
        </p:txBody>
      </p:sp>
    </p:spTree>
    <p:extLst>
      <p:ext uri="{BB962C8B-B14F-4D97-AF65-F5344CB8AC3E}">
        <p14:creationId xmlns:p14="http://schemas.microsoft.com/office/powerpoint/2010/main" val="14554319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1B1DD-A0F5-9C9B-3005-405F53214A4A}"/>
              </a:ext>
            </a:extLst>
          </p:cNvPr>
          <p:cNvSpPr>
            <a:spLocks noGrp="1"/>
          </p:cNvSpPr>
          <p:nvPr>
            <p:ph type="title"/>
          </p:nvPr>
        </p:nvSpPr>
        <p:spPr>
          <a:xfrm>
            <a:off x="839788" y="365125"/>
            <a:ext cx="10515600" cy="1325563"/>
          </a:xfrm>
        </p:spPr>
        <p:txBody>
          <a:bodyPr/>
          <a:lstStyle/>
          <a:p>
            <a:r>
              <a:rPr lang="en-US"/>
              <a:t>Click to edit Master title style</a:t>
            </a:r>
            <a:endParaRPr lang="en-PH"/>
          </a:p>
        </p:txBody>
      </p:sp>
      <p:sp>
        <p:nvSpPr>
          <p:cNvPr id="3" name="Text Placeholder 2">
            <a:extLst>
              <a:ext uri="{FF2B5EF4-FFF2-40B4-BE49-F238E27FC236}">
                <a16:creationId xmlns:a16="http://schemas.microsoft.com/office/drawing/2014/main" id="{438F1057-5C68-2857-335B-A0A83C0BC61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42C613D-6B69-3F2C-E1C6-37FEDBDDBB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Text Placeholder 4">
            <a:extLst>
              <a:ext uri="{FF2B5EF4-FFF2-40B4-BE49-F238E27FC236}">
                <a16:creationId xmlns:a16="http://schemas.microsoft.com/office/drawing/2014/main" id="{BBA8568D-8C83-69B6-D964-A899073E789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E26AAAB-44A7-D543-0C20-A5DEBCDE455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7" name="Date Placeholder 6">
            <a:extLst>
              <a:ext uri="{FF2B5EF4-FFF2-40B4-BE49-F238E27FC236}">
                <a16:creationId xmlns:a16="http://schemas.microsoft.com/office/drawing/2014/main" id="{5D4BFDFB-D401-984E-B5CB-39A54E7B8FE3}"/>
              </a:ext>
            </a:extLst>
          </p:cNvPr>
          <p:cNvSpPr>
            <a:spLocks noGrp="1"/>
          </p:cNvSpPr>
          <p:nvPr>
            <p:ph type="dt" sz="half" idx="10"/>
          </p:nvPr>
        </p:nvSpPr>
        <p:spPr/>
        <p:txBody>
          <a:bodyPr/>
          <a:lstStyle/>
          <a:p>
            <a:fld id="{B080A2C8-1BBB-4CAC-AF5D-7AB5F8839633}" type="datetime1">
              <a:rPr lang="en-PH" smtClean="0"/>
              <a:t>25/12/2025</a:t>
            </a:fld>
            <a:endParaRPr lang="en-PH" dirty="0"/>
          </a:p>
        </p:txBody>
      </p:sp>
      <p:sp>
        <p:nvSpPr>
          <p:cNvPr id="8" name="Footer Placeholder 7">
            <a:extLst>
              <a:ext uri="{FF2B5EF4-FFF2-40B4-BE49-F238E27FC236}">
                <a16:creationId xmlns:a16="http://schemas.microsoft.com/office/drawing/2014/main" id="{6E7FEB64-1254-2A00-40C9-BB50A143FE35}"/>
              </a:ext>
            </a:extLst>
          </p:cNvPr>
          <p:cNvSpPr>
            <a:spLocks noGrp="1"/>
          </p:cNvSpPr>
          <p:nvPr>
            <p:ph type="ftr" sz="quarter" idx="11"/>
          </p:nvPr>
        </p:nvSpPr>
        <p:spPr/>
        <p:txBody>
          <a:bodyPr/>
          <a:lstStyle/>
          <a:p>
            <a:endParaRPr lang="en-PH" dirty="0"/>
          </a:p>
        </p:txBody>
      </p:sp>
      <p:sp>
        <p:nvSpPr>
          <p:cNvPr id="9" name="Slide Number Placeholder 8">
            <a:extLst>
              <a:ext uri="{FF2B5EF4-FFF2-40B4-BE49-F238E27FC236}">
                <a16:creationId xmlns:a16="http://schemas.microsoft.com/office/drawing/2014/main" id="{97EA9A24-5759-6DB9-F257-724435C846C3}"/>
              </a:ext>
            </a:extLst>
          </p:cNvPr>
          <p:cNvSpPr>
            <a:spLocks noGrp="1"/>
          </p:cNvSpPr>
          <p:nvPr>
            <p:ph type="sldNum" sz="quarter" idx="12"/>
          </p:nvPr>
        </p:nvSpPr>
        <p:spPr/>
        <p:txBody>
          <a:bodyPr/>
          <a:lstStyle/>
          <a:p>
            <a:fld id="{BC863EF6-A0EA-4665-B999-CBD75E062146}" type="slidenum">
              <a:rPr lang="en-PH" smtClean="0"/>
              <a:t>‹#›</a:t>
            </a:fld>
            <a:endParaRPr lang="en-PH" dirty="0"/>
          </a:p>
        </p:txBody>
      </p:sp>
    </p:spTree>
    <p:extLst>
      <p:ext uri="{BB962C8B-B14F-4D97-AF65-F5344CB8AC3E}">
        <p14:creationId xmlns:p14="http://schemas.microsoft.com/office/powerpoint/2010/main" val="3637941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C2BE4-99C1-2706-4D31-B031D26BAAC2}"/>
              </a:ext>
            </a:extLst>
          </p:cNvPr>
          <p:cNvSpPr>
            <a:spLocks noGrp="1"/>
          </p:cNvSpPr>
          <p:nvPr>
            <p:ph type="title"/>
          </p:nvPr>
        </p:nvSpPr>
        <p:spPr/>
        <p:txBody>
          <a:bodyPr/>
          <a:lstStyle/>
          <a:p>
            <a:r>
              <a:rPr lang="en-US"/>
              <a:t>Click to edit Master title style</a:t>
            </a:r>
            <a:endParaRPr lang="en-PH"/>
          </a:p>
        </p:txBody>
      </p:sp>
      <p:sp>
        <p:nvSpPr>
          <p:cNvPr id="3" name="Date Placeholder 2">
            <a:extLst>
              <a:ext uri="{FF2B5EF4-FFF2-40B4-BE49-F238E27FC236}">
                <a16:creationId xmlns:a16="http://schemas.microsoft.com/office/drawing/2014/main" id="{5173D09C-C3B7-FB9E-E322-4070F7A5BA6C}"/>
              </a:ext>
            </a:extLst>
          </p:cNvPr>
          <p:cNvSpPr>
            <a:spLocks noGrp="1"/>
          </p:cNvSpPr>
          <p:nvPr>
            <p:ph type="dt" sz="half" idx="10"/>
          </p:nvPr>
        </p:nvSpPr>
        <p:spPr/>
        <p:txBody>
          <a:bodyPr/>
          <a:lstStyle/>
          <a:p>
            <a:fld id="{86BDEC49-C13C-490B-9297-A3B36F6110C1}" type="datetime1">
              <a:rPr lang="en-PH" smtClean="0"/>
              <a:t>25/12/2025</a:t>
            </a:fld>
            <a:endParaRPr lang="en-PH" dirty="0"/>
          </a:p>
        </p:txBody>
      </p:sp>
      <p:sp>
        <p:nvSpPr>
          <p:cNvPr id="4" name="Footer Placeholder 3">
            <a:extLst>
              <a:ext uri="{FF2B5EF4-FFF2-40B4-BE49-F238E27FC236}">
                <a16:creationId xmlns:a16="http://schemas.microsoft.com/office/drawing/2014/main" id="{625166A4-8151-9F4B-9C3B-7B5B11036DBC}"/>
              </a:ext>
            </a:extLst>
          </p:cNvPr>
          <p:cNvSpPr>
            <a:spLocks noGrp="1"/>
          </p:cNvSpPr>
          <p:nvPr>
            <p:ph type="ftr" sz="quarter" idx="11"/>
          </p:nvPr>
        </p:nvSpPr>
        <p:spPr/>
        <p:txBody>
          <a:bodyPr/>
          <a:lstStyle/>
          <a:p>
            <a:endParaRPr lang="en-PH" dirty="0"/>
          </a:p>
        </p:txBody>
      </p:sp>
      <p:sp>
        <p:nvSpPr>
          <p:cNvPr id="5" name="Slide Number Placeholder 4">
            <a:extLst>
              <a:ext uri="{FF2B5EF4-FFF2-40B4-BE49-F238E27FC236}">
                <a16:creationId xmlns:a16="http://schemas.microsoft.com/office/drawing/2014/main" id="{8CE0F241-0D42-8032-6A39-679E8CE43789}"/>
              </a:ext>
            </a:extLst>
          </p:cNvPr>
          <p:cNvSpPr>
            <a:spLocks noGrp="1"/>
          </p:cNvSpPr>
          <p:nvPr>
            <p:ph type="sldNum" sz="quarter" idx="12"/>
          </p:nvPr>
        </p:nvSpPr>
        <p:spPr/>
        <p:txBody>
          <a:bodyPr/>
          <a:lstStyle/>
          <a:p>
            <a:fld id="{BC863EF6-A0EA-4665-B999-CBD75E062146}" type="slidenum">
              <a:rPr lang="en-PH" smtClean="0"/>
              <a:t>‹#›</a:t>
            </a:fld>
            <a:endParaRPr lang="en-PH" dirty="0"/>
          </a:p>
        </p:txBody>
      </p:sp>
    </p:spTree>
    <p:extLst>
      <p:ext uri="{BB962C8B-B14F-4D97-AF65-F5344CB8AC3E}">
        <p14:creationId xmlns:p14="http://schemas.microsoft.com/office/powerpoint/2010/main" val="37699050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86DA477-07F5-8679-029D-001DFF9480F1}"/>
              </a:ext>
            </a:extLst>
          </p:cNvPr>
          <p:cNvSpPr>
            <a:spLocks noGrp="1"/>
          </p:cNvSpPr>
          <p:nvPr>
            <p:ph type="dt" sz="half" idx="10"/>
          </p:nvPr>
        </p:nvSpPr>
        <p:spPr/>
        <p:txBody>
          <a:bodyPr/>
          <a:lstStyle/>
          <a:p>
            <a:fld id="{98B85004-CA21-4072-8CFE-FE458226D833}" type="datetime1">
              <a:rPr lang="en-PH" smtClean="0"/>
              <a:t>25/12/2025</a:t>
            </a:fld>
            <a:endParaRPr lang="en-PH" dirty="0"/>
          </a:p>
        </p:txBody>
      </p:sp>
      <p:sp>
        <p:nvSpPr>
          <p:cNvPr id="3" name="Footer Placeholder 2">
            <a:extLst>
              <a:ext uri="{FF2B5EF4-FFF2-40B4-BE49-F238E27FC236}">
                <a16:creationId xmlns:a16="http://schemas.microsoft.com/office/drawing/2014/main" id="{36EBB002-7961-8CEC-08D0-23C2F751C384}"/>
              </a:ext>
            </a:extLst>
          </p:cNvPr>
          <p:cNvSpPr>
            <a:spLocks noGrp="1"/>
          </p:cNvSpPr>
          <p:nvPr>
            <p:ph type="ftr" sz="quarter" idx="11"/>
          </p:nvPr>
        </p:nvSpPr>
        <p:spPr/>
        <p:txBody>
          <a:bodyPr/>
          <a:lstStyle/>
          <a:p>
            <a:endParaRPr lang="en-PH" dirty="0"/>
          </a:p>
        </p:txBody>
      </p:sp>
      <p:sp>
        <p:nvSpPr>
          <p:cNvPr id="4" name="Slide Number Placeholder 3">
            <a:extLst>
              <a:ext uri="{FF2B5EF4-FFF2-40B4-BE49-F238E27FC236}">
                <a16:creationId xmlns:a16="http://schemas.microsoft.com/office/drawing/2014/main" id="{493657EC-067B-27D9-6CBA-5F50C0435686}"/>
              </a:ext>
            </a:extLst>
          </p:cNvPr>
          <p:cNvSpPr>
            <a:spLocks noGrp="1"/>
          </p:cNvSpPr>
          <p:nvPr>
            <p:ph type="sldNum" sz="quarter" idx="12"/>
          </p:nvPr>
        </p:nvSpPr>
        <p:spPr/>
        <p:txBody>
          <a:bodyPr/>
          <a:lstStyle/>
          <a:p>
            <a:fld id="{BC863EF6-A0EA-4665-B999-CBD75E062146}" type="slidenum">
              <a:rPr lang="en-PH" smtClean="0"/>
              <a:t>‹#›</a:t>
            </a:fld>
            <a:endParaRPr lang="en-PH" dirty="0"/>
          </a:p>
        </p:txBody>
      </p:sp>
    </p:spTree>
    <p:extLst>
      <p:ext uri="{BB962C8B-B14F-4D97-AF65-F5344CB8AC3E}">
        <p14:creationId xmlns:p14="http://schemas.microsoft.com/office/powerpoint/2010/main" val="15921066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D46D3-3EE6-3F09-B758-FCC15FA295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Content Placeholder 2">
            <a:extLst>
              <a:ext uri="{FF2B5EF4-FFF2-40B4-BE49-F238E27FC236}">
                <a16:creationId xmlns:a16="http://schemas.microsoft.com/office/drawing/2014/main" id="{B1755D61-3CC7-4C13-67EE-DE2444B6363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Text Placeholder 3">
            <a:extLst>
              <a:ext uri="{FF2B5EF4-FFF2-40B4-BE49-F238E27FC236}">
                <a16:creationId xmlns:a16="http://schemas.microsoft.com/office/drawing/2014/main" id="{724173E9-F394-536E-0E7A-553AC62082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3B8B0D-8FBE-784A-7C99-F5895EB0022E}"/>
              </a:ext>
            </a:extLst>
          </p:cNvPr>
          <p:cNvSpPr>
            <a:spLocks noGrp="1"/>
          </p:cNvSpPr>
          <p:nvPr>
            <p:ph type="dt" sz="half" idx="10"/>
          </p:nvPr>
        </p:nvSpPr>
        <p:spPr/>
        <p:txBody>
          <a:bodyPr/>
          <a:lstStyle/>
          <a:p>
            <a:fld id="{7B4E8360-925F-4EA1-BDDA-567F4F9D24AA}" type="datetime1">
              <a:rPr lang="en-PH" smtClean="0"/>
              <a:t>25/12/2025</a:t>
            </a:fld>
            <a:endParaRPr lang="en-PH" dirty="0"/>
          </a:p>
        </p:txBody>
      </p:sp>
      <p:sp>
        <p:nvSpPr>
          <p:cNvPr id="6" name="Footer Placeholder 5">
            <a:extLst>
              <a:ext uri="{FF2B5EF4-FFF2-40B4-BE49-F238E27FC236}">
                <a16:creationId xmlns:a16="http://schemas.microsoft.com/office/drawing/2014/main" id="{00642A60-A93E-45B6-703C-2C1AC60F1F5B}"/>
              </a:ext>
            </a:extLst>
          </p:cNvPr>
          <p:cNvSpPr>
            <a:spLocks noGrp="1"/>
          </p:cNvSpPr>
          <p:nvPr>
            <p:ph type="ftr" sz="quarter" idx="11"/>
          </p:nvPr>
        </p:nvSpPr>
        <p:spPr/>
        <p:txBody>
          <a:bodyPr/>
          <a:lstStyle/>
          <a:p>
            <a:endParaRPr lang="en-PH" dirty="0"/>
          </a:p>
        </p:txBody>
      </p:sp>
      <p:sp>
        <p:nvSpPr>
          <p:cNvPr id="7" name="Slide Number Placeholder 6">
            <a:extLst>
              <a:ext uri="{FF2B5EF4-FFF2-40B4-BE49-F238E27FC236}">
                <a16:creationId xmlns:a16="http://schemas.microsoft.com/office/drawing/2014/main" id="{6D6CB9B8-8988-87B6-5179-F58C37AB4EC9}"/>
              </a:ext>
            </a:extLst>
          </p:cNvPr>
          <p:cNvSpPr>
            <a:spLocks noGrp="1"/>
          </p:cNvSpPr>
          <p:nvPr>
            <p:ph type="sldNum" sz="quarter" idx="12"/>
          </p:nvPr>
        </p:nvSpPr>
        <p:spPr/>
        <p:txBody>
          <a:bodyPr/>
          <a:lstStyle/>
          <a:p>
            <a:fld id="{BC863EF6-A0EA-4665-B999-CBD75E062146}" type="slidenum">
              <a:rPr lang="en-PH" smtClean="0"/>
              <a:t>‹#›</a:t>
            </a:fld>
            <a:endParaRPr lang="en-PH" dirty="0"/>
          </a:p>
        </p:txBody>
      </p:sp>
    </p:spTree>
    <p:extLst>
      <p:ext uri="{BB962C8B-B14F-4D97-AF65-F5344CB8AC3E}">
        <p14:creationId xmlns:p14="http://schemas.microsoft.com/office/powerpoint/2010/main" val="14998389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AABA2-4D2F-18A8-A53A-D8F61A4A0F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Picture Placeholder 2">
            <a:extLst>
              <a:ext uri="{FF2B5EF4-FFF2-40B4-BE49-F238E27FC236}">
                <a16:creationId xmlns:a16="http://schemas.microsoft.com/office/drawing/2014/main" id="{5C52596B-65B1-4535-EE05-0E6C57EF5F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dirty="0"/>
          </a:p>
        </p:txBody>
      </p:sp>
      <p:sp>
        <p:nvSpPr>
          <p:cNvPr id="4" name="Text Placeholder 3">
            <a:extLst>
              <a:ext uri="{FF2B5EF4-FFF2-40B4-BE49-F238E27FC236}">
                <a16:creationId xmlns:a16="http://schemas.microsoft.com/office/drawing/2014/main" id="{8A795970-78AB-A1B4-201E-26FB7AACFF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1F8901-F121-1AD0-B9E7-FB341DEEED0A}"/>
              </a:ext>
            </a:extLst>
          </p:cNvPr>
          <p:cNvSpPr>
            <a:spLocks noGrp="1"/>
          </p:cNvSpPr>
          <p:nvPr>
            <p:ph type="dt" sz="half" idx="10"/>
          </p:nvPr>
        </p:nvSpPr>
        <p:spPr/>
        <p:txBody>
          <a:bodyPr/>
          <a:lstStyle/>
          <a:p>
            <a:fld id="{578D601F-87E1-4203-81A1-40F65D59DEDE}" type="datetime1">
              <a:rPr lang="en-PH" smtClean="0"/>
              <a:t>25/12/2025</a:t>
            </a:fld>
            <a:endParaRPr lang="en-PH" dirty="0"/>
          </a:p>
        </p:txBody>
      </p:sp>
      <p:sp>
        <p:nvSpPr>
          <p:cNvPr id="6" name="Footer Placeholder 5">
            <a:extLst>
              <a:ext uri="{FF2B5EF4-FFF2-40B4-BE49-F238E27FC236}">
                <a16:creationId xmlns:a16="http://schemas.microsoft.com/office/drawing/2014/main" id="{6C5DFBE9-22E2-9E00-0196-BD753E9293EF}"/>
              </a:ext>
            </a:extLst>
          </p:cNvPr>
          <p:cNvSpPr>
            <a:spLocks noGrp="1"/>
          </p:cNvSpPr>
          <p:nvPr>
            <p:ph type="ftr" sz="quarter" idx="11"/>
          </p:nvPr>
        </p:nvSpPr>
        <p:spPr/>
        <p:txBody>
          <a:bodyPr/>
          <a:lstStyle/>
          <a:p>
            <a:endParaRPr lang="en-PH" dirty="0"/>
          </a:p>
        </p:txBody>
      </p:sp>
      <p:sp>
        <p:nvSpPr>
          <p:cNvPr id="7" name="Slide Number Placeholder 6">
            <a:extLst>
              <a:ext uri="{FF2B5EF4-FFF2-40B4-BE49-F238E27FC236}">
                <a16:creationId xmlns:a16="http://schemas.microsoft.com/office/drawing/2014/main" id="{1E15AE6C-D83F-4ADA-2F12-868CF0468AB6}"/>
              </a:ext>
            </a:extLst>
          </p:cNvPr>
          <p:cNvSpPr>
            <a:spLocks noGrp="1"/>
          </p:cNvSpPr>
          <p:nvPr>
            <p:ph type="sldNum" sz="quarter" idx="12"/>
          </p:nvPr>
        </p:nvSpPr>
        <p:spPr/>
        <p:txBody>
          <a:bodyPr/>
          <a:lstStyle/>
          <a:p>
            <a:fld id="{BC863EF6-A0EA-4665-B999-CBD75E062146}" type="slidenum">
              <a:rPr lang="en-PH" smtClean="0"/>
              <a:t>‹#›</a:t>
            </a:fld>
            <a:endParaRPr lang="en-PH" dirty="0"/>
          </a:p>
        </p:txBody>
      </p:sp>
    </p:spTree>
    <p:extLst>
      <p:ext uri="{BB962C8B-B14F-4D97-AF65-F5344CB8AC3E}">
        <p14:creationId xmlns:p14="http://schemas.microsoft.com/office/powerpoint/2010/main" val="14549855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5D6C5-C546-E93A-D3B4-3EA077288CB9}"/>
              </a:ext>
            </a:extLst>
          </p:cNvPr>
          <p:cNvSpPr>
            <a:spLocks noGrp="1"/>
          </p:cNvSpPr>
          <p:nvPr>
            <p:ph type="title"/>
          </p:nvPr>
        </p:nvSpPr>
        <p:spPr/>
        <p:txBody>
          <a:bodyPr/>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15A02BD6-AF00-BCBE-5F1D-07C34A49DDC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978FB95D-86AC-9AAD-89C4-E7E498692B2D}"/>
              </a:ext>
            </a:extLst>
          </p:cNvPr>
          <p:cNvSpPr>
            <a:spLocks noGrp="1"/>
          </p:cNvSpPr>
          <p:nvPr>
            <p:ph type="dt" sz="half" idx="10"/>
          </p:nvPr>
        </p:nvSpPr>
        <p:spPr/>
        <p:txBody>
          <a:bodyPr/>
          <a:lstStyle/>
          <a:p>
            <a:fld id="{D1938F6A-DD10-477F-8A50-A2A781EF0482}" type="datetime1">
              <a:rPr lang="en-PH" smtClean="0"/>
              <a:t>25/12/2025</a:t>
            </a:fld>
            <a:endParaRPr lang="en-PH" dirty="0"/>
          </a:p>
        </p:txBody>
      </p:sp>
      <p:sp>
        <p:nvSpPr>
          <p:cNvPr id="5" name="Footer Placeholder 4">
            <a:extLst>
              <a:ext uri="{FF2B5EF4-FFF2-40B4-BE49-F238E27FC236}">
                <a16:creationId xmlns:a16="http://schemas.microsoft.com/office/drawing/2014/main" id="{67CD6998-263D-7C0E-7B83-5D39F01EE843}"/>
              </a:ext>
            </a:extLst>
          </p:cNvPr>
          <p:cNvSpPr>
            <a:spLocks noGrp="1"/>
          </p:cNvSpPr>
          <p:nvPr>
            <p:ph type="ftr" sz="quarter" idx="11"/>
          </p:nvPr>
        </p:nvSpPr>
        <p:spPr/>
        <p:txBody>
          <a:bodyPr/>
          <a:lstStyle/>
          <a:p>
            <a:endParaRPr lang="en-PH" dirty="0"/>
          </a:p>
        </p:txBody>
      </p:sp>
      <p:sp>
        <p:nvSpPr>
          <p:cNvPr id="6" name="Slide Number Placeholder 5">
            <a:extLst>
              <a:ext uri="{FF2B5EF4-FFF2-40B4-BE49-F238E27FC236}">
                <a16:creationId xmlns:a16="http://schemas.microsoft.com/office/drawing/2014/main" id="{DC58D037-D1F7-94A9-3FD4-BDA4593707DA}"/>
              </a:ext>
            </a:extLst>
          </p:cNvPr>
          <p:cNvSpPr>
            <a:spLocks noGrp="1"/>
          </p:cNvSpPr>
          <p:nvPr>
            <p:ph type="sldNum" sz="quarter" idx="12"/>
          </p:nvPr>
        </p:nvSpPr>
        <p:spPr/>
        <p:txBody>
          <a:bodyPr/>
          <a:lstStyle/>
          <a:p>
            <a:fld id="{BC863EF6-A0EA-4665-B999-CBD75E062146}" type="slidenum">
              <a:rPr lang="en-PH" smtClean="0"/>
              <a:t>‹#›</a:t>
            </a:fld>
            <a:endParaRPr lang="en-PH" dirty="0"/>
          </a:p>
        </p:txBody>
      </p:sp>
    </p:spTree>
    <p:extLst>
      <p:ext uri="{BB962C8B-B14F-4D97-AF65-F5344CB8AC3E}">
        <p14:creationId xmlns:p14="http://schemas.microsoft.com/office/powerpoint/2010/main" val="19315518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CBC353A-4097-653A-372C-691B661F6AE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9939D151-F012-3052-D421-A2A7624C4E2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815F065F-45E0-1E27-7FE8-23DFF1D34868}"/>
              </a:ext>
            </a:extLst>
          </p:cNvPr>
          <p:cNvSpPr>
            <a:spLocks noGrp="1"/>
          </p:cNvSpPr>
          <p:nvPr>
            <p:ph type="dt" sz="half" idx="10"/>
          </p:nvPr>
        </p:nvSpPr>
        <p:spPr/>
        <p:txBody>
          <a:bodyPr/>
          <a:lstStyle/>
          <a:p>
            <a:fld id="{8E1F1378-3DDE-4F5A-980E-BB4E51B40D6D}" type="datetime1">
              <a:rPr lang="en-PH" smtClean="0"/>
              <a:t>25/12/2025</a:t>
            </a:fld>
            <a:endParaRPr lang="en-PH" dirty="0"/>
          </a:p>
        </p:txBody>
      </p:sp>
      <p:sp>
        <p:nvSpPr>
          <p:cNvPr id="5" name="Footer Placeholder 4">
            <a:extLst>
              <a:ext uri="{FF2B5EF4-FFF2-40B4-BE49-F238E27FC236}">
                <a16:creationId xmlns:a16="http://schemas.microsoft.com/office/drawing/2014/main" id="{B7E662F4-DB0D-DD94-2A2B-DA3CA6A64E97}"/>
              </a:ext>
            </a:extLst>
          </p:cNvPr>
          <p:cNvSpPr>
            <a:spLocks noGrp="1"/>
          </p:cNvSpPr>
          <p:nvPr>
            <p:ph type="ftr" sz="quarter" idx="11"/>
          </p:nvPr>
        </p:nvSpPr>
        <p:spPr/>
        <p:txBody>
          <a:bodyPr/>
          <a:lstStyle/>
          <a:p>
            <a:endParaRPr lang="en-PH" dirty="0"/>
          </a:p>
        </p:txBody>
      </p:sp>
      <p:sp>
        <p:nvSpPr>
          <p:cNvPr id="6" name="Slide Number Placeholder 5">
            <a:extLst>
              <a:ext uri="{FF2B5EF4-FFF2-40B4-BE49-F238E27FC236}">
                <a16:creationId xmlns:a16="http://schemas.microsoft.com/office/drawing/2014/main" id="{9EB41570-C5C2-6AAC-86F5-1D5AC446CD72}"/>
              </a:ext>
            </a:extLst>
          </p:cNvPr>
          <p:cNvSpPr>
            <a:spLocks noGrp="1"/>
          </p:cNvSpPr>
          <p:nvPr>
            <p:ph type="sldNum" sz="quarter" idx="12"/>
          </p:nvPr>
        </p:nvSpPr>
        <p:spPr/>
        <p:txBody>
          <a:bodyPr/>
          <a:lstStyle/>
          <a:p>
            <a:fld id="{BC863EF6-A0EA-4665-B999-CBD75E062146}" type="slidenum">
              <a:rPr lang="en-PH" smtClean="0"/>
              <a:t>‹#›</a:t>
            </a:fld>
            <a:endParaRPr lang="en-PH" dirty="0"/>
          </a:p>
        </p:txBody>
      </p:sp>
    </p:spTree>
    <p:extLst>
      <p:ext uri="{BB962C8B-B14F-4D97-AF65-F5344CB8AC3E}">
        <p14:creationId xmlns:p14="http://schemas.microsoft.com/office/powerpoint/2010/main" val="13686235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2AEFFE-9AA6-1D4A-851C-D7B59444E6F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H"/>
          </a:p>
        </p:txBody>
      </p:sp>
      <p:sp>
        <p:nvSpPr>
          <p:cNvPr id="3" name="Text Placeholder 2">
            <a:extLst>
              <a:ext uri="{FF2B5EF4-FFF2-40B4-BE49-F238E27FC236}">
                <a16:creationId xmlns:a16="http://schemas.microsoft.com/office/drawing/2014/main" id="{211922BD-01A8-68C9-14AE-C55D7229421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84D07B24-FF86-FE6D-D8FE-C99916167D0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9D97E3A-E09E-4943-AEDC-B20AB33B8EAA}" type="datetime1">
              <a:rPr lang="en-PH" smtClean="0"/>
              <a:t>25/12/2025</a:t>
            </a:fld>
            <a:endParaRPr lang="en-PH" dirty="0"/>
          </a:p>
        </p:txBody>
      </p:sp>
      <p:sp>
        <p:nvSpPr>
          <p:cNvPr id="5" name="Footer Placeholder 4">
            <a:extLst>
              <a:ext uri="{FF2B5EF4-FFF2-40B4-BE49-F238E27FC236}">
                <a16:creationId xmlns:a16="http://schemas.microsoft.com/office/drawing/2014/main" id="{25401491-0B8C-B71A-E483-B74A8B7F0C0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PH" dirty="0"/>
          </a:p>
        </p:txBody>
      </p:sp>
      <p:sp>
        <p:nvSpPr>
          <p:cNvPr id="6" name="Slide Number Placeholder 5">
            <a:extLst>
              <a:ext uri="{FF2B5EF4-FFF2-40B4-BE49-F238E27FC236}">
                <a16:creationId xmlns:a16="http://schemas.microsoft.com/office/drawing/2014/main" id="{1BEB159E-AE4D-5BFF-C688-679B7849D3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C863EF6-A0EA-4665-B999-CBD75E062146}" type="slidenum">
              <a:rPr lang="en-PH" smtClean="0"/>
              <a:t>‹#›</a:t>
            </a:fld>
            <a:endParaRPr lang="en-PH" dirty="0"/>
          </a:p>
        </p:txBody>
      </p:sp>
    </p:spTree>
    <p:extLst>
      <p:ext uri="{BB962C8B-B14F-4D97-AF65-F5344CB8AC3E}">
        <p14:creationId xmlns:p14="http://schemas.microsoft.com/office/powerpoint/2010/main" val="4386961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E50913"/>
            </a:gs>
            <a:gs pos="76000">
              <a:schemeClr val="tx1">
                <a:lumMod val="85000"/>
                <a:lumOff val="15000"/>
              </a:schemeClr>
            </a:gs>
          </a:gsLst>
          <a:lin ang="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B1C03-F611-AC38-2DB4-702FD3D66437}"/>
              </a:ext>
            </a:extLst>
          </p:cNvPr>
          <p:cNvSpPr>
            <a:spLocks noGrp="1"/>
          </p:cNvSpPr>
          <p:nvPr>
            <p:ph type="ctrTitle"/>
          </p:nvPr>
        </p:nvSpPr>
        <p:spPr>
          <a:xfrm>
            <a:off x="477520" y="1477963"/>
            <a:ext cx="11186160" cy="2387600"/>
          </a:xfrm>
        </p:spPr>
        <p:txBody>
          <a:bodyPr anchor="ctr">
            <a:noAutofit/>
          </a:bodyPr>
          <a:lstStyle/>
          <a:p>
            <a:r>
              <a:rPr lang="en-PH" sz="4700" dirty="0">
                <a:solidFill>
                  <a:schemeClr val="bg1"/>
                </a:solidFill>
                <a:latin typeface="Impact" panose="020B0806030902050204" pitchFamily="34" charset="0"/>
              </a:rPr>
              <a:t>Capstone:</a:t>
            </a:r>
            <a:br>
              <a:rPr lang="en-PH" sz="4700" dirty="0">
                <a:solidFill>
                  <a:schemeClr val="bg1"/>
                </a:solidFill>
                <a:latin typeface="Impact" panose="020B0806030902050204" pitchFamily="34" charset="0"/>
              </a:rPr>
            </a:br>
            <a:r>
              <a:rPr lang="en-PH" sz="4700" dirty="0">
                <a:solidFill>
                  <a:schemeClr val="bg1"/>
                </a:solidFill>
                <a:latin typeface="Impact" panose="020B0806030902050204" pitchFamily="34" charset="0"/>
              </a:rPr>
              <a:t>Netflix Content-Based Recommender System</a:t>
            </a:r>
            <a:br>
              <a:rPr lang="en-PH" sz="4700" dirty="0">
                <a:solidFill>
                  <a:schemeClr val="bg1"/>
                </a:solidFill>
                <a:latin typeface="Impact" panose="020B0806030902050204" pitchFamily="34" charset="0"/>
              </a:rPr>
            </a:br>
            <a:r>
              <a:rPr lang="en-PH" sz="4700" dirty="0">
                <a:solidFill>
                  <a:schemeClr val="bg1"/>
                </a:solidFill>
                <a:latin typeface="Impact" panose="020B0806030902050204" pitchFamily="34" charset="0"/>
              </a:rPr>
              <a:t>Technical Presentation</a:t>
            </a:r>
          </a:p>
        </p:txBody>
      </p:sp>
      <p:sp>
        <p:nvSpPr>
          <p:cNvPr id="3" name="Subtitle 2">
            <a:extLst>
              <a:ext uri="{FF2B5EF4-FFF2-40B4-BE49-F238E27FC236}">
                <a16:creationId xmlns:a16="http://schemas.microsoft.com/office/drawing/2014/main" id="{2972692E-157D-7DC7-DC38-61C7E2195ED5}"/>
              </a:ext>
            </a:extLst>
          </p:cNvPr>
          <p:cNvSpPr>
            <a:spLocks noGrp="1"/>
          </p:cNvSpPr>
          <p:nvPr>
            <p:ph type="subTitle" idx="1"/>
          </p:nvPr>
        </p:nvSpPr>
        <p:spPr>
          <a:xfrm>
            <a:off x="690880" y="4988560"/>
            <a:ext cx="9144000" cy="1092200"/>
          </a:xfrm>
        </p:spPr>
        <p:txBody>
          <a:bodyPr/>
          <a:lstStyle/>
          <a:p>
            <a:pPr algn="l"/>
            <a:r>
              <a:rPr lang="en-US" dirty="0">
                <a:solidFill>
                  <a:schemeClr val="bg1"/>
                </a:solidFill>
                <a:latin typeface="Arial" panose="020B0604020202020204" pitchFamily="34" charset="0"/>
                <a:cs typeface="Arial" panose="020B0604020202020204" pitchFamily="34" charset="0"/>
              </a:rPr>
              <a:t>Marvin L. Ford, MBAA</a:t>
            </a:r>
            <a:br>
              <a:rPr lang="en-US" dirty="0">
                <a:solidFill>
                  <a:schemeClr val="bg1"/>
                </a:solidFill>
                <a:latin typeface="Arial" panose="020B0604020202020204" pitchFamily="34" charset="0"/>
                <a:cs typeface="Arial" panose="020B0604020202020204" pitchFamily="34" charset="0"/>
              </a:rPr>
            </a:br>
            <a:r>
              <a:rPr lang="en-US" sz="1600" i="1" dirty="0">
                <a:solidFill>
                  <a:schemeClr val="bg1"/>
                </a:solidFill>
                <a:latin typeface="Arial" panose="020B0604020202020204" pitchFamily="34" charset="0"/>
                <a:cs typeface="Arial" panose="020B0604020202020204" pitchFamily="34" charset="0"/>
              </a:rPr>
              <a:t>Postgraduate Diploma in Artificial Intelligence and Machine Learning</a:t>
            </a:r>
            <a:br>
              <a:rPr lang="en-US" sz="1600" i="1" dirty="0">
                <a:solidFill>
                  <a:schemeClr val="bg1"/>
                </a:solidFill>
                <a:latin typeface="Arial" panose="020B0604020202020204" pitchFamily="34" charset="0"/>
                <a:cs typeface="Arial" panose="020B0604020202020204" pitchFamily="34" charset="0"/>
              </a:rPr>
            </a:br>
            <a:r>
              <a:rPr lang="en-US" sz="1600" i="1" dirty="0">
                <a:solidFill>
                  <a:schemeClr val="bg1"/>
                </a:solidFill>
                <a:latin typeface="Arial" panose="020B0604020202020204" pitchFamily="34" charset="0"/>
                <a:cs typeface="Arial" panose="020B0604020202020204" pitchFamily="34" charset="0"/>
              </a:rPr>
              <a:t>December 2024-December 2025 Cohort</a:t>
            </a:r>
            <a:br>
              <a:rPr lang="en-US" sz="1600" i="1" dirty="0">
                <a:solidFill>
                  <a:schemeClr val="bg1"/>
                </a:solidFill>
                <a:latin typeface="Arial" panose="020B0604020202020204" pitchFamily="34" charset="0"/>
                <a:cs typeface="Arial" panose="020B0604020202020204" pitchFamily="34" charset="0"/>
              </a:rPr>
            </a:br>
            <a:r>
              <a:rPr lang="en-US" sz="1600" i="1" dirty="0">
                <a:solidFill>
                  <a:schemeClr val="bg1"/>
                </a:solidFill>
                <a:latin typeface="Arial" panose="020B0604020202020204" pitchFamily="34" charset="0"/>
                <a:cs typeface="Arial" panose="020B0604020202020204" pitchFamily="34" charset="0"/>
              </a:rPr>
              <a:t>Asian Institute of Management</a:t>
            </a:r>
            <a:endParaRPr lang="en-PH" i="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411384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A4B7AF3-55F4-05CB-2E05-A95D8D97B95B}"/>
              </a:ext>
            </a:extLst>
          </p:cNvPr>
          <p:cNvSpPr>
            <a:spLocks noGrp="1"/>
          </p:cNvSpPr>
          <p:nvPr>
            <p:ph idx="1"/>
          </p:nvPr>
        </p:nvSpPr>
        <p:spPr>
          <a:xfrm>
            <a:off x="838200" y="1368425"/>
            <a:ext cx="10515600" cy="4351338"/>
          </a:xfrm>
        </p:spPr>
        <p:txBody>
          <a:bodyPr>
            <a:normAutofit fontScale="85000" lnSpcReduction="20000"/>
          </a:bodyPr>
          <a:lstStyle/>
          <a:p>
            <a:r>
              <a:rPr lang="en-US" b="1" dirty="0">
                <a:latin typeface="Arial" panose="020B0604020202020204" pitchFamily="34" charset="0"/>
                <a:cs typeface="Arial" panose="020B0604020202020204" pitchFamily="34" charset="0"/>
              </a:rPr>
              <a:t>Business Problem: </a:t>
            </a:r>
          </a:p>
          <a:p>
            <a:pPr lvl="1" algn="just">
              <a:lnSpc>
                <a:spcPct val="124000"/>
              </a:lnSpc>
            </a:pPr>
            <a:r>
              <a:rPr lang="en-US" dirty="0">
                <a:latin typeface="Arial" panose="020B0604020202020204" pitchFamily="34" charset="0"/>
                <a:cs typeface="Arial" panose="020B0604020202020204" pitchFamily="34" charset="0"/>
              </a:rPr>
              <a:t>Users of large streaming platforms often struggle to discover content</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that matches their interests due to the size and diversity of the catalog.</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This challenge is amplified when user interaction data is limited or unavailable, leading to popularity bias, cold-start scenarios, and excessive browsing instead of meaningful content consumption.</a:t>
            </a:r>
          </a:p>
          <a:p>
            <a:pPr marL="457200" lvl="1" indent="0">
              <a:buNone/>
            </a:pPr>
            <a:endParaRPr lang="en-US" dirty="0">
              <a:latin typeface="Arial" panose="020B06040202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Machine Learning Task Type: </a:t>
            </a:r>
          </a:p>
          <a:p>
            <a:pPr lvl="1">
              <a:lnSpc>
                <a:spcPct val="134000"/>
              </a:lnSpc>
            </a:pPr>
            <a:r>
              <a:rPr lang="en-US" dirty="0">
                <a:latin typeface="Arial" panose="020B0604020202020204" pitchFamily="34" charset="0"/>
                <a:cs typeface="Arial" panose="020B0604020202020204" pitchFamily="34" charset="0"/>
              </a:rPr>
              <a:t>Unsupervised Learning</a:t>
            </a:r>
          </a:p>
          <a:p>
            <a:pPr lvl="1">
              <a:lnSpc>
                <a:spcPct val="134000"/>
              </a:lnSpc>
            </a:pPr>
            <a:r>
              <a:rPr lang="en-US" dirty="0">
                <a:latin typeface="Arial" panose="020B0604020202020204" pitchFamily="34" charset="0"/>
                <a:cs typeface="Arial" panose="020B0604020202020204" pitchFamily="34" charset="0"/>
              </a:rPr>
              <a:t>Recommendation (Content-Based Similarity and Informational Retrieval)</a:t>
            </a:r>
          </a:p>
          <a:p>
            <a:pPr lvl="1">
              <a:lnSpc>
                <a:spcPct val="134000"/>
              </a:lnSpc>
            </a:pPr>
            <a:r>
              <a:rPr lang="en-US" dirty="0">
                <a:latin typeface="Arial" panose="020B0604020202020204" pitchFamily="34" charset="0"/>
                <a:cs typeface="Arial" panose="020B0604020202020204" pitchFamily="34" charset="0"/>
              </a:rPr>
              <a:t>Target Variable is not applicable as this does not predict a label and instead retrieves similar items based on content features.</a:t>
            </a:r>
          </a:p>
        </p:txBody>
      </p:sp>
      <p:sp>
        <p:nvSpPr>
          <p:cNvPr id="4" name="Rectangle 3">
            <a:extLst>
              <a:ext uri="{FF2B5EF4-FFF2-40B4-BE49-F238E27FC236}">
                <a16:creationId xmlns:a16="http://schemas.microsoft.com/office/drawing/2014/main" id="{B37A09D0-E55C-9A11-5572-51EB0729B015}"/>
              </a:ext>
            </a:extLst>
          </p:cNvPr>
          <p:cNvSpPr/>
          <p:nvPr/>
        </p:nvSpPr>
        <p:spPr>
          <a:xfrm>
            <a:off x="0" y="0"/>
            <a:ext cx="172720" cy="6858000"/>
          </a:xfrm>
          <a:prstGeom prst="rect">
            <a:avLst/>
          </a:prstGeom>
          <a:gradFill flip="none" rotWithShape="1">
            <a:gsLst>
              <a:gs pos="0">
                <a:srgbClr val="B0060F"/>
              </a:gs>
              <a:gs pos="53000">
                <a:srgbClr val="FF0000"/>
              </a:gs>
              <a:gs pos="100000">
                <a:schemeClr val="tx1"/>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 name="Title 1">
            <a:extLst>
              <a:ext uri="{FF2B5EF4-FFF2-40B4-BE49-F238E27FC236}">
                <a16:creationId xmlns:a16="http://schemas.microsoft.com/office/drawing/2014/main" id="{E36B8476-B54F-FD26-A134-41DA2946357C}"/>
              </a:ext>
            </a:extLst>
          </p:cNvPr>
          <p:cNvSpPr>
            <a:spLocks noGrp="1"/>
          </p:cNvSpPr>
          <p:nvPr>
            <p:ph type="title"/>
          </p:nvPr>
        </p:nvSpPr>
        <p:spPr>
          <a:xfrm>
            <a:off x="426720" y="374552"/>
            <a:ext cx="10927080" cy="721995"/>
          </a:xfrm>
        </p:spPr>
        <p:txBody>
          <a:bodyPr>
            <a:normAutofit/>
          </a:bodyPr>
          <a:lstStyle/>
          <a:p>
            <a:r>
              <a:rPr lang="en-US" sz="3400" b="1" dirty="0">
                <a:solidFill>
                  <a:srgbClr val="B0060F"/>
                </a:solidFill>
                <a:latin typeface="Arial" panose="020B0604020202020204" pitchFamily="34" charset="0"/>
                <a:cs typeface="Arial" panose="020B0604020202020204" pitchFamily="34" charset="0"/>
              </a:rPr>
              <a:t>Business Problem and Machine Learning Task Type</a:t>
            </a:r>
            <a:endParaRPr lang="en-PH" sz="3400" dirty="0"/>
          </a:p>
        </p:txBody>
      </p:sp>
    </p:spTree>
    <p:extLst>
      <p:ext uri="{BB962C8B-B14F-4D97-AF65-F5344CB8AC3E}">
        <p14:creationId xmlns:p14="http://schemas.microsoft.com/office/powerpoint/2010/main" val="15599511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4254D-654F-6BBB-7EE9-89F6FC559CD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24573F-BEB8-F6DF-BDC4-9B7BD927B640}"/>
              </a:ext>
            </a:extLst>
          </p:cNvPr>
          <p:cNvSpPr>
            <a:spLocks noGrp="1"/>
          </p:cNvSpPr>
          <p:nvPr>
            <p:ph idx="1"/>
          </p:nvPr>
        </p:nvSpPr>
        <p:spPr>
          <a:xfrm>
            <a:off x="848360" y="1205865"/>
            <a:ext cx="10515600" cy="1720215"/>
          </a:xfrm>
        </p:spPr>
        <p:txBody>
          <a:bodyPr>
            <a:normAutofit fontScale="92500"/>
          </a:bodyPr>
          <a:lstStyle/>
          <a:p>
            <a:pPr marL="0" indent="0" algn="just">
              <a:lnSpc>
                <a:spcPct val="110000"/>
              </a:lnSpc>
              <a:buNone/>
            </a:pPr>
            <a:r>
              <a:rPr lang="en-US" sz="2000" dirty="0">
                <a:latin typeface="Arial" panose="020B0604020202020204" pitchFamily="34" charset="0"/>
                <a:cs typeface="Arial" panose="020B0604020202020204" pitchFamily="34" charset="0"/>
              </a:rPr>
              <a:t>The metrics balance relevance, diversity, exposure, and transparency to evaluate performance under cold-start and data-limited conditions. Because the system retrieves similar content rather than predicting user behavior, evaluation focuses on content quality and discovery outcomes, not supervised accuracy. Together, these KPIs align technical performance with business goals of faster discovery, reduced browsing effort, and fair catalog exposure.</a:t>
            </a:r>
          </a:p>
        </p:txBody>
      </p:sp>
      <p:sp>
        <p:nvSpPr>
          <p:cNvPr id="4" name="Rectangle 3">
            <a:extLst>
              <a:ext uri="{FF2B5EF4-FFF2-40B4-BE49-F238E27FC236}">
                <a16:creationId xmlns:a16="http://schemas.microsoft.com/office/drawing/2014/main" id="{E179021A-B069-C6DE-C37A-77A21F740014}"/>
              </a:ext>
            </a:extLst>
          </p:cNvPr>
          <p:cNvSpPr/>
          <p:nvPr/>
        </p:nvSpPr>
        <p:spPr>
          <a:xfrm>
            <a:off x="0" y="0"/>
            <a:ext cx="172720" cy="6858000"/>
          </a:xfrm>
          <a:prstGeom prst="rect">
            <a:avLst/>
          </a:prstGeom>
          <a:gradFill flip="none" rotWithShape="1">
            <a:gsLst>
              <a:gs pos="0">
                <a:srgbClr val="B0060F"/>
              </a:gs>
              <a:gs pos="53000">
                <a:srgbClr val="FF0000"/>
              </a:gs>
              <a:gs pos="100000">
                <a:schemeClr val="tx1"/>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 name="Content Placeholder 2">
            <a:extLst>
              <a:ext uri="{FF2B5EF4-FFF2-40B4-BE49-F238E27FC236}">
                <a16:creationId xmlns:a16="http://schemas.microsoft.com/office/drawing/2014/main" id="{4A8251C0-1E90-6FA1-72F2-649E057D84CD}"/>
              </a:ext>
            </a:extLst>
          </p:cNvPr>
          <p:cNvSpPr txBox="1">
            <a:spLocks/>
          </p:cNvSpPr>
          <p:nvPr/>
        </p:nvSpPr>
        <p:spPr>
          <a:xfrm>
            <a:off x="838200" y="3007359"/>
            <a:ext cx="10515600" cy="339344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dirty="0" err="1">
                <a:latin typeface="Arial" panose="020B0604020202020204" pitchFamily="34" charset="0"/>
                <a:cs typeface="Arial" panose="020B0604020202020204" pitchFamily="34" charset="0"/>
              </a:rPr>
              <a:t>Precision@K</a:t>
            </a:r>
            <a:r>
              <a:rPr lang="en-US" sz="1500" b="1" dirty="0">
                <a:latin typeface="Arial" panose="020B0604020202020204" pitchFamily="34" charset="0"/>
                <a:cs typeface="Arial" panose="020B0604020202020204" pitchFamily="34" charset="0"/>
              </a:rPr>
              <a:t> (P@K): </a:t>
            </a:r>
          </a:p>
          <a:p>
            <a:pPr lvl="1"/>
            <a:r>
              <a:rPr lang="en-US" sz="1300" dirty="0">
                <a:latin typeface="Arial" panose="020B0604020202020204" pitchFamily="34" charset="0"/>
                <a:cs typeface="Arial" panose="020B0604020202020204" pitchFamily="34" charset="0"/>
              </a:rPr>
              <a:t>0.00–1.00, higher is better (target ≥ 0.60)</a:t>
            </a:r>
          </a:p>
          <a:p>
            <a:pPr lvl="1"/>
            <a:r>
              <a:rPr lang="en-US" sz="1300" dirty="0">
                <a:latin typeface="Arial" panose="020B0604020202020204" pitchFamily="34" charset="0"/>
                <a:cs typeface="Arial" panose="020B0604020202020204" pitchFamily="34" charset="0"/>
              </a:rPr>
              <a:t>Measures relevance and how well the Top-K recommendations match the anchor title’s content, ensuring practical usefulness.</a:t>
            </a:r>
          </a:p>
          <a:p>
            <a:r>
              <a:rPr lang="en-US" sz="1500" b="1" dirty="0">
                <a:latin typeface="Arial" panose="020B0604020202020204" pitchFamily="34" charset="0"/>
                <a:cs typeface="Arial" panose="020B0604020202020204" pitchFamily="34" charset="0"/>
              </a:rPr>
              <a:t>Intra-list Diversity (ILD):</a:t>
            </a:r>
          </a:p>
          <a:p>
            <a:pPr lvl="1"/>
            <a:r>
              <a:rPr lang="en-US" sz="1300" dirty="0">
                <a:latin typeface="Arial" panose="020B0604020202020204" pitchFamily="34" charset="0"/>
                <a:cs typeface="Arial" panose="020B0604020202020204" pitchFamily="34" charset="0"/>
              </a:rPr>
              <a:t>0.00–1.00, higher is better (target 0.50–0.70)</a:t>
            </a:r>
          </a:p>
          <a:p>
            <a:pPr lvl="1"/>
            <a:r>
              <a:rPr lang="en-US" sz="1300" dirty="0">
                <a:latin typeface="Arial" panose="020B0604020202020204" pitchFamily="34" charset="0"/>
                <a:cs typeface="Arial" panose="020B0604020202020204" pitchFamily="34" charset="0"/>
              </a:rPr>
              <a:t>Evaluates variety within recommendations to avoid repetitive or overly narrow suggestions.</a:t>
            </a:r>
          </a:p>
          <a:p>
            <a:r>
              <a:rPr lang="en-US" sz="1500" b="1" dirty="0">
                <a:latin typeface="Arial" panose="020B0604020202020204" pitchFamily="34" charset="0"/>
                <a:cs typeface="Arial" panose="020B0604020202020204" pitchFamily="34" charset="0"/>
              </a:rPr>
              <a:t>Catalog Coverage (CC):</a:t>
            </a:r>
          </a:p>
          <a:p>
            <a:pPr lvl="1"/>
            <a:r>
              <a:rPr lang="en-US" sz="1300" dirty="0">
                <a:latin typeface="Arial" panose="020B0604020202020204" pitchFamily="34" charset="0"/>
                <a:cs typeface="Arial" panose="020B0604020202020204" pitchFamily="34" charset="0"/>
              </a:rPr>
              <a:t>0.00–1.00, higher is better (target ≥ 0.40)</a:t>
            </a:r>
          </a:p>
          <a:p>
            <a:pPr lvl="1"/>
            <a:r>
              <a:rPr lang="en-US" sz="1300" dirty="0">
                <a:latin typeface="Arial" panose="020B0604020202020204" pitchFamily="34" charset="0"/>
                <a:cs typeface="Arial" panose="020B0604020202020204" pitchFamily="34" charset="0"/>
              </a:rPr>
              <a:t>Assesses how broadly recommendations surface titles across the catalog, limiting popularity bias.</a:t>
            </a:r>
          </a:p>
          <a:p>
            <a:r>
              <a:rPr lang="en-US" sz="1500" b="1" dirty="0">
                <a:latin typeface="Arial" panose="020B0604020202020204" pitchFamily="34" charset="0"/>
                <a:cs typeface="Arial" panose="020B0604020202020204" pitchFamily="34" charset="0"/>
              </a:rPr>
              <a:t>Explainability Coverage (EC):</a:t>
            </a:r>
          </a:p>
          <a:p>
            <a:pPr lvl="1"/>
            <a:r>
              <a:rPr lang="en-US" sz="1300" dirty="0">
                <a:latin typeface="Arial" panose="020B0604020202020204" pitchFamily="34" charset="0"/>
                <a:cs typeface="Arial" panose="020B0604020202020204" pitchFamily="34" charset="0"/>
              </a:rPr>
              <a:t>0.00–1.00, higher is better (target ≥ 0.80)</a:t>
            </a:r>
            <a:endParaRPr lang="en-PH" sz="1300" dirty="0">
              <a:latin typeface="Arial" panose="020B0604020202020204" pitchFamily="34" charset="0"/>
              <a:cs typeface="Arial" panose="020B0604020202020204" pitchFamily="34" charset="0"/>
            </a:endParaRPr>
          </a:p>
          <a:p>
            <a:pPr lvl="1"/>
            <a:r>
              <a:rPr lang="en-US" sz="1300" dirty="0">
                <a:latin typeface="Arial" panose="020B0604020202020204" pitchFamily="34" charset="0"/>
                <a:cs typeface="Arial" panose="020B0604020202020204" pitchFamily="34" charset="0"/>
              </a:rPr>
              <a:t>Ensures recommendations can be clearly justified using observable content features.</a:t>
            </a:r>
          </a:p>
        </p:txBody>
      </p:sp>
      <p:sp>
        <p:nvSpPr>
          <p:cNvPr id="9" name="Title 1">
            <a:extLst>
              <a:ext uri="{FF2B5EF4-FFF2-40B4-BE49-F238E27FC236}">
                <a16:creationId xmlns:a16="http://schemas.microsoft.com/office/drawing/2014/main" id="{60565D63-CEC3-4416-6B42-ED93CF8599C0}"/>
              </a:ext>
            </a:extLst>
          </p:cNvPr>
          <p:cNvSpPr>
            <a:spLocks noGrp="1"/>
          </p:cNvSpPr>
          <p:nvPr>
            <p:ph type="title"/>
          </p:nvPr>
        </p:nvSpPr>
        <p:spPr>
          <a:xfrm>
            <a:off x="426720" y="365126"/>
            <a:ext cx="10927080" cy="715962"/>
          </a:xfrm>
        </p:spPr>
        <p:txBody>
          <a:bodyPr>
            <a:normAutofit/>
          </a:bodyPr>
          <a:lstStyle/>
          <a:p>
            <a:r>
              <a:rPr lang="en-US" sz="3400" b="1" dirty="0">
                <a:solidFill>
                  <a:srgbClr val="B0060F"/>
                </a:solidFill>
                <a:latin typeface="Arial" panose="020B0604020202020204" pitchFamily="34" charset="0"/>
                <a:cs typeface="Arial" panose="020B0604020202020204" pitchFamily="34" charset="0"/>
              </a:rPr>
              <a:t>Success Metrics (KPIs)</a:t>
            </a:r>
            <a:endParaRPr lang="en-PH" sz="3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563220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02B60-62AB-2B5E-C795-8DA4EEFCEA6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288872-5457-F4CF-2E3E-E13550A20DC2}"/>
              </a:ext>
            </a:extLst>
          </p:cNvPr>
          <p:cNvSpPr>
            <a:spLocks noGrp="1"/>
          </p:cNvSpPr>
          <p:nvPr>
            <p:ph idx="1"/>
          </p:nvPr>
        </p:nvSpPr>
        <p:spPr>
          <a:xfrm>
            <a:off x="838200" y="2199866"/>
            <a:ext cx="10515600" cy="4139974"/>
          </a:xfrm>
        </p:spPr>
        <p:txBody>
          <a:bodyPr>
            <a:normAutofit/>
          </a:bodyPr>
          <a:lstStyle/>
          <a:p>
            <a:r>
              <a:rPr lang="en-US" sz="2000" b="1" dirty="0">
                <a:latin typeface="Arial" panose="020B0604020202020204" pitchFamily="34" charset="0"/>
                <a:cs typeface="Arial" panose="020B0604020202020204" pitchFamily="34" charset="0"/>
              </a:rPr>
              <a:t>Missing Data:</a:t>
            </a:r>
          </a:p>
          <a:p>
            <a:pPr lvl="1"/>
            <a:r>
              <a:rPr lang="en-US" sz="1800" dirty="0">
                <a:latin typeface="Arial" panose="020B0604020202020204" pitchFamily="34" charset="0"/>
                <a:cs typeface="Arial" panose="020B0604020202020204" pitchFamily="34" charset="0"/>
              </a:rPr>
              <a:t>Removed 14 fully empty placeholder columns (100% missing, 8,809 rows) as these were non-informative noise</a:t>
            </a:r>
          </a:p>
          <a:p>
            <a:pPr lvl="1"/>
            <a:r>
              <a:rPr lang="en-US" sz="1800" dirty="0">
                <a:latin typeface="Arial" panose="020B0604020202020204" pitchFamily="34" charset="0"/>
                <a:cs typeface="Arial" panose="020B0604020202020204" pitchFamily="34" charset="0"/>
              </a:rPr>
              <a:t>Director missing: 29.9% (2,634 titles)</a:t>
            </a:r>
          </a:p>
          <a:p>
            <a:pPr lvl="1"/>
            <a:r>
              <a:rPr lang="en-US" sz="1800" dirty="0">
                <a:latin typeface="Arial" panose="020B0604020202020204" pitchFamily="34" charset="0"/>
                <a:cs typeface="Arial" panose="020B0604020202020204" pitchFamily="34" charset="0"/>
              </a:rPr>
              <a:t>Cast missing: 9.4% (825 titles)</a:t>
            </a:r>
          </a:p>
          <a:p>
            <a:pPr lvl="1"/>
            <a:r>
              <a:rPr lang="en-US" sz="1800" dirty="0">
                <a:latin typeface="Arial" panose="020B0604020202020204" pitchFamily="34" charset="0"/>
                <a:cs typeface="Arial" panose="020B0604020202020204" pitchFamily="34" charset="0"/>
              </a:rPr>
              <a:t>Country missing: 9.4% (831 titles)</a:t>
            </a:r>
          </a:p>
          <a:p>
            <a:pPr lvl="1"/>
            <a:r>
              <a:rPr lang="en-US" sz="1800" dirty="0">
                <a:latin typeface="Arial" panose="020B0604020202020204" pitchFamily="34" charset="0"/>
                <a:cs typeface="Arial" panose="020B0604020202020204" pitchFamily="34" charset="0"/>
              </a:rPr>
              <a:t>Partially missing semantic fields were retained using tolerant preprocessing to preserve catalog coverage and support cold-start scenarios</a:t>
            </a:r>
          </a:p>
          <a:p>
            <a:r>
              <a:rPr lang="en-US" sz="2000" b="1" dirty="0">
                <a:latin typeface="Arial" panose="020B0604020202020204" pitchFamily="34" charset="0"/>
                <a:cs typeface="Arial" panose="020B0604020202020204" pitchFamily="34" charset="0"/>
              </a:rPr>
              <a:t>Duplicates:</a:t>
            </a:r>
          </a:p>
          <a:p>
            <a:pPr lvl="1"/>
            <a:r>
              <a:rPr lang="en-US" sz="1800" dirty="0">
                <a:latin typeface="Arial" panose="020B0604020202020204" pitchFamily="34" charset="0"/>
                <a:cs typeface="Arial" panose="020B0604020202020204" pitchFamily="34" charset="0"/>
              </a:rPr>
              <a:t>3 duplicate title strings identified</a:t>
            </a:r>
          </a:p>
          <a:p>
            <a:pPr lvl="1"/>
            <a:r>
              <a:rPr lang="en-US" sz="1800" dirty="0">
                <a:latin typeface="Arial" panose="020B0604020202020204" pitchFamily="34" charset="0"/>
                <a:cs typeface="Arial" panose="020B0604020202020204" pitchFamily="34" charset="0"/>
              </a:rPr>
              <a:t>Duplicate rows were not removed to avoid discarding valid titles with shared names</a:t>
            </a:r>
          </a:p>
          <a:p>
            <a:pPr lvl="1"/>
            <a:r>
              <a:rPr lang="en-US" sz="1800" dirty="0">
                <a:latin typeface="Arial" panose="020B0604020202020204" pitchFamily="34" charset="0"/>
                <a:cs typeface="Arial" panose="020B0604020202020204" pitchFamily="34" charset="0"/>
              </a:rPr>
              <a:t>Unique row indices were used for similarity computation and recommendation retrieval to ensure deterministic lookups and prevent ambiguity    </a:t>
            </a:r>
          </a:p>
        </p:txBody>
      </p:sp>
      <p:sp>
        <p:nvSpPr>
          <p:cNvPr id="4" name="Content Placeholder 2">
            <a:extLst>
              <a:ext uri="{FF2B5EF4-FFF2-40B4-BE49-F238E27FC236}">
                <a16:creationId xmlns:a16="http://schemas.microsoft.com/office/drawing/2014/main" id="{533D5A3E-30A0-4D52-78D7-A84847AB3097}"/>
              </a:ext>
            </a:extLst>
          </p:cNvPr>
          <p:cNvSpPr txBox="1">
            <a:spLocks/>
          </p:cNvSpPr>
          <p:nvPr/>
        </p:nvSpPr>
        <p:spPr>
          <a:xfrm>
            <a:off x="838200" y="1121729"/>
            <a:ext cx="10515600" cy="93939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PH" sz="2000" dirty="0">
                <a:latin typeface="Arial" panose="020B0604020202020204" pitchFamily="34" charset="0"/>
                <a:cs typeface="Arial" panose="020B0604020202020204" pitchFamily="34" charset="0"/>
              </a:rPr>
              <a:t>Exploratory data analysis identified missing metadata, duplicate title strings, catalog imbalance, and concentration across geography and genres, requiring targeted handling without reducing catalog size or semantic value.</a:t>
            </a:r>
          </a:p>
          <a:p>
            <a:pPr marL="0" indent="0">
              <a:buNone/>
            </a:pPr>
            <a:endParaRPr lang="en-PH" sz="2000" dirty="0">
              <a:latin typeface="Arial" panose="020B0604020202020204" pitchFamily="34" charset="0"/>
              <a:cs typeface="Arial" panose="020B0604020202020204" pitchFamily="34" charset="0"/>
            </a:endParaRPr>
          </a:p>
        </p:txBody>
      </p:sp>
      <p:sp>
        <p:nvSpPr>
          <p:cNvPr id="5" name="Rectangle 4">
            <a:extLst>
              <a:ext uri="{FF2B5EF4-FFF2-40B4-BE49-F238E27FC236}">
                <a16:creationId xmlns:a16="http://schemas.microsoft.com/office/drawing/2014/main" id="{239246B3-7154-A603-3190-339BBA42427E}"/>
              </a:ext>
            </a:extLst>
          </p:cNvPr>
          <p:cNvSpPr/>
          <p:nvPr/>
        </p:nvSpPr>
        <p:spPr>
          <a:xfrm>
            <a:off x="0" y="0"/>
            <a:ext cx="172720" cy="6858000"/>
          </a:xfrm>
          <a:prstGeom prst="rect">
            <a:avLst/>
          </a:prstGeom>
          <a:gradFill flip="none" rotWithShape="1">
            <a:gsLst>
              <a:gs pos="0">
                <a:srgbClr val="B0060F"/>
              </a:gs>
              <a:gs pos="53000">
                <a:srgbClr val="FF0000"/>
              </a:gs>
              <a:gs pos="100000">
                <a:schemeClr val="tx1"/>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8" name="Title 1">
            <a:extLst>
              <a:ext uri="{FF2B5EF4-FFF2-40B4-BE49-F238E27FC236}">
                <a16:creationId xmlns:a16="http://schemas.microsoft.com/office/drawing/2014/main" id="{1470BEE9-6F40-22FC-7F36-EC30A2A3E495}"/>
              </a:ext>
            </a:extLst>
          </p:cNvPr>
          <p:cNvSpPr txBox="1">
            <a:spLocks/>
          </p:cNvSpPr>
          <p:nvPr/>
        </p:nvSpPr>
        <p:spPr>
          <a:xfrm>
            <a:off x="426720" y="443276"/>
            <a:ext cx="10515600" cy="5492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400" b="1" dirty="0">
                <a:solidFill>
                  <a:srgbClr val="C00000"/>
                </a:solidFill>
                <a:latin typeface="Arial" panose="020B0604020202020204" pitchFamily="34" charset="0"/>
                <a:cs typeface="Arial" panose="020B0604020202020204" pitchFamily="34" charset="0"/>
              </a:rPr>
              <a:t>Data Preprocessing, EDA &amp; Feature Engineering</a:t>
            </a:r>
            <a:endParaRPr lang="en-PH" sz="3400" b="1" dirty="0">
              <a:solidFill>
                <a:srgbClr val="C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19740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714FF6-2615-FE71-151B-716985A457EE}"/>
              </a:ext>
            </a:extLst>
          </p:cNvPr>
          <p:cNvSpPr>
            <a:spLocks noGrp="1"/>
          </p:cNvSpPr>
          <p:nvPr>
            <p:ph idx="1"/>
          </p:nvPr>
        </p:nvSpPr>
        <p:spPr>
          <a:xfrm>
            <a:off x="838200" y="1205865"/>
            <a:ext cx="5257800" cy="4473575"/>
          </a:xfrm>
        </p:spPr>
        <p:txBody>
          <a:bodyPr>
            <a:normAutofit fontScale="92500"/>
          </a:bodyPr>
          <a:lstStyle/>
          <a:p>
            <a:pPr>
              <a:lnSpc>
                <a:spcPct val="120000"/>
              </a:lnSpc>
            </a:pPr>
            <a:r>
              <a:rPr lang="en-US" sz="2400" b="1" dirty="0">
                <a:latin typeface="Arial" panose="020B0604020202020204" pitchFamily="34" charset="0"/>
                <a:cs typeface="Arial" panose="020B0604020202020204" pitchFamily="34" charset="0"/>
              </a:rPr>
              <a:t>Catalog Imbalance: </a:t>
            </a:r>
          </a:p>
          <a:p>
            <a:pPr lvl="1">
              <a:lnSpc>
                <a:spcPct val="120000"/>
              </a:lnSpc>
            </a:pPr>
            <a:r>
              <a:rPr lang="en-US" sz="1800" dirty="0">
                <a:latin typeface="Arial" panose="020B0604020202020204" pitchFamily="34" charset="0"/>
                <a:cs typeface="Arial" panose="020B0604020202020204" pitchFamily="34" charset="0"/>
              </a:rPr>
              <a:t>Movies: 6,132 titles</a:t>
            </a:r>
          </a:p>
          <a:p>
            <a:pPr lvl="1">
              <a:lnSpc>
                <a:spcPct val="120000"/>
              </a:lnSpc>
            </a:pPr>
            <a:r>
              <a:rPr lang="en-US" sz="1800" dirty="0">
                <a:latin typeface="Arial" panose="020B0604020202020204" pitchFamily="34" charset="0"/>
                <a:cs typeface="Arial" panose="020B0604020202020204" pitchFamily="34" charset="0"/>
              </a:rPr>
              <a:t>TV Shows: 2,677 titles</a:t>
            </a:r>
          </a:p>
          <a:p>
            <a:pPr lvl="1">
              <a:lnSpc>
                <a:spcPct val="120000"/>
              </a:lnSpc>
            </a:pPr>
            <a:r>
              <a:rPr lang="en-US" sz="1800" dirty="0">
                <a:latin typeface="Arial" panose="020B0604020202020204" pitchFamily="34" charset="0"/>
                <a:cs typeface="Arial" panose="020B0604020202020204" pitchFamily="34" charset="0"/>
              </a:rPr>
              <a:t>Type-aware similarity logic ensures movies are compared only with movies and TV shows with TV shows to maintain relevance.</a:t>
            </a:r>
          </a:p>
          <a:p>
            <a:pPr>
              <a:lnSpc>
                <a:spcPct val="120000"/>
              </a:lnSpc>
            </a:pPr>
            <a:r>
              <a:rPr lang="en-US" sz="2400" b="1" dirty="0">
                <a:latin typeface="Arial" panose="020B0604020202020204" pitchFamily="34" charset="0"/>
                <a:cs typeface="Arial" panose="020B0604020202020204" pitchFamily="34" charset="0"/>
              </a:rPr>
              <a:t>Geographic Concentration: </a:t>
            </a:r>
          </a:p>
          <a:p>
            <a:pPr lvl="1">
              <a:lnSpc>
                <a:spcPct val="120000"/>
              </a:lnSpc>
            </a:pPr>
            <a:r>
              <a:rPr lang="en-US" sz="1800" dirty="0">
                <a:latin typeface="Arial" panose="020B0604020202020204" pitchFamily="34" charset="0"/>
                <a:cs typeface="Arial" panose="020B0604020202020204" pitchFamily="34" charset="0"/>
              </a:rPr>
              <a:t>United States: 2,819 titles (dominant production region)</a:t>
            </a:r>
          </a:p>
          <a:p>
            <a:pPr lvl="1">
              <a:lnSpc>
                <a:spcPct val="120000"/>
              </a:lnSpc>
            </a:pPr>
            <a:r>
              <a:rPr lang="en-US" sz="1800" dirty="0">
                <a:latin typeface="Arial" panose="020B0604020202020204" pitchFamily="34" charset="0"/>
                <a:cs typeface="Arial" panose="020B0604020202020204" pitchFamily="34" charset="0"/>
              </a:rPr>
              <a:t>Catalog Coverage (CC) addresses this and applies balanced feature weighting to reduce repeated exposure to dominant regions.</a:t>
            </a:r>
          </a:p>
        </p:txBody>
      </p:sp>
      <p:pic>
        <p:nvPicPr>
          <p:cNvPr id="1026" name="Picture 2">
            <a:extLst>
              <a:ext uri="{FF2B5EF4-FFF2-40B4-BE49-F238E27FC236}">
                <a16:creationId xmlns:a16="http://schemas.microsoft.com/office/drawing/2014/main" id="{384424B7-ECAF-9FC4-B503-988ACDF4CF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11506" y="1061219"/>
            <a:ext cx="3254240" cy="260220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00107949-37F7-1618-B813-A24066415B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81628" y="3663426"/>
            <a:ext cx="5632690" cy="2894501"/>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CB8C35DB-4B32-22D6-1881-D8EAE7993296}"/>
              </a:ext>
            </a:extLst>
          </p:cNvPr>
          <p:cNvSpPr/>
          <p:nvPr/>
        </p:nvSpPr>
        <p:spPr>
          <a:xfrm>
            <a:off x="0" y="0"/>
            <a:ext cx="172720" cy="6858000"/>
          </a:xfrm>
          <a:prstGeom prst="rect">
            <a:avLst/>
          </a:prstGeom>
          <a:gradFill flip="none" rotWithShape="1">
            <a:gsLst>
              <a:gs pos="0">
                <a:srgbClr val="B0060F"/>
              </a:gs>
              <a:gs pos="53000">
                <a:srgbClr val="FF0000"/>
              </a:gs>
              <a:gs pos="100000">
                <a:schemeClr val="tx1"/>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 name="Title 1">
            <a:extLst>
              <a:ext uri="{FF2B5EF4-FFF2-40B4-BE49-F238E27FC236}">
                <a16:creationId xmlns:a16="http://schemas.microsoft.com/office/drawing/2014/main" id="{4AE8A191-8C8B-C432-6C5B-8DB1B3D2A4BE}"/>
              </a:ext>
            </a:extLst>
          </p:cNvPr>
          <p:cNvSpPr txBox="1">
            <a:spLocks/>
          </p:cNvSpPr>
          <p:nvPr/>
        </p:nvSpPr>
        <p:spPr>
          <a:xfrm>
            <a:off x="426720" y="443276"/>
            <a:ext cx="10515600" cy="5492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400" b="1" dirty="0">
                <a:solidFill>
                  <a:srgbClr val="C00000"/>
                </a:solidFill>
                <a:latin typeface="Arial" panose="020B0604020202020204" pitchFamily="34" charset="0"/>
                <a:cs typeface="Arial" panose="020B0604020202020204" pitchFamily="34" charset="0"/>
              </a:rPr>
              <a:t>Data Preprocessing, EDA &amp; Feature Engineering</a:t>
            </a:r>
            <a:endParaRPr lang="en-PH" sz="3400" b="1" dirty="0">
              <a:solidFill>
                <a:srgbClr val="C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659491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C6844-BB2A-0B83-6E6B-50E528336DF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6B484C-05F4-227F-4D6E-CC4EDDDE695B}"/>
              </a:ext>
            </a:extLst>
          </p:cNvPr>
          <p:cNvSpPr>
            <a:spLocks noGrp="1"/>
          </p:cNvSpPr>
          <p:nvPr>
            <p:ph idx="1"/>
          </p:nvPr>
        </p:nvSpPr>
        <p:spPr>
          <a:xfrm>
            <a:off x="904574" y="1140103"/>
            <a:ext cx="5257801" cy="5302901"/>
          </a:xfrm>
        </p:spPr>
        <p:txBody>
          <a:bodyPr>
            <a:normAutofit/>
          </a:bodyPr>
          <a:lstStyle/>
          <a:p>
            <a:r>
              <a:rPr lang="en-US" sz="1600" b="1" dirty="0">
                <a:latin typeface="Arial" panose="020B0604020202020204" pitchFamily="34" charset="0"/>
                <a:cs typeface="Arial" panose="020B0604020202020204" pitchFamily="34" charset="0"/>
              </a:rPr>
              <a:t>Genre Dominance: </a:t>
            </a:r>
          </a:p>
          <a:p>
            <a:pPr lvl="1"/>
            <a:r>
              <a:rPr lang="en-US" sz="1400" dirty="0">
                <a:latin typeface="Arial" panose="020B0604020202020204" pitchFamily="34" charset="0"/>
                <a:cs typeface="Arial" panose="020B0604020202020204" pitchFamily="34" charset="0"/>
              </a:rPr>
              <a:t>Top genre token “TV” appears 5,230 times</a:t>
            </a:r>
          </a:p>
          <a:p>
            <a:pPr lvl="1"/>
            <a:r>
              <a:rPr lang="en-US" sz="1400" dirty="0">
                <a:latin typeface="Arial" panose="020B0604020202020204" pitchFamily="34" charset="0"/>
                <a:cs typeface="Arial" panose="020B0604020202020204" pitchFamily="34" charset="0"/>
              </a:rPr>
              <a:t>Intra-List Diversity (ILD) and tuning genre weighting limits overly repetitive recommendations.</a:t>
            </a:r>
          </a:p>
          <a:p>
            <a:r>
              <a:rPr lang="en-US" sz="1600" b="1" dirty="0">
                <a:latin typeface="Arial" panose="020B0604020202020204" pitchFamily="34" charset="0"/>
                <a:cs typeface="Arial" panose="020B0604020202020204" pitchFamily="34" charset="0"/>
              </a:rPr>
              <a:t>Feature Engineering &amp; Selection: </a:t>
            </a:r>
          </a:p>
          <a:p>
            <a:pPr lvl="1"/>
            <a:r>
              <a:rPr lang="en-US" sz="1400" dirty="0">
                <a:latin typeface="Arial" panose="020B0604020202020204" pitchFamily="34" charset="0"/>
                <a:cs typeface="Arial" panose="020B0604020202020204" pitchFamily="34" charset="0"/>
              </a:rPr>
              <a:t>Selected semantic signals: description, listed_in (genres), cast, director, country</a:t>
            </a:r>
          </a:p>
          <a:p>
            <a:pPr lvl="1"/>
            <a:r>
              <a:rPr lang="en-US" sz="1400" dirty="0">
                <a:latin typeface="Arial" panose="020B0604020202020204" pitchFamily="34" charset="0"/>
                <a:cs typeface="Arial" panose="020B0604020202020204" pitchFamily="34" charset="0"/>
              </a:rPr>
              <a:t>Excluded non-semantic metadata: release year, rating, duration, date added</a:t>
            </a:r>
          </a:p>
          <a:p>
            <a:pPr lvl="1"/>
            <a:r>
              <a:rPr lang="en-US" sz="1400" dirty="0">
                <a:latin typeface="Arial" panose="020B0604020202020204" pitchFamily="34" charset="0"/>
                <a:cs typeface="Arial" panose="020B0604020202020204" pitchFamily="34" charset="0"/>
              </a:rPr>
              <a:t>Constructed a unified content_profile through text normalization and field merging</a:t>
            </a:r>
          </a:p>
          <a:p>
            <a:pPr lvl="1"/>
            <a:r>
              <a:rPr lang="en-US" sz="1400" dirty="0">
                <a:latin typeface="Arial" panose="020B0604020202020204" pitchFamily="34" charset="0"/>
                <a:cs typeface="Arial" panose="020B0604020202020204" pitchFamily="34" charset="0"/>
              </a:rPr>
              <a:t>PCA dimensionality reduction was not applied, as preserving semantic meaning and explainability is critical for text-based similarity modeling. PCA would obscure token-level explainability.</a:t>
            </a:r>
          </a:p>
          <a:p>
            <a:pPr lvl="1"/>
            <a:r>
              <a:rPr lang="en-US" sz="1400" dirty="0">
                <a:latin typeface="Arial" panose="020B0604020202020204" pitchFamily="34" charset="0"/>
                <a:cs typeface="Arial" panose="020B0604020202020204" pitchFamily="34" charset="0"/>
              </a:rPr>
              <a:t>These preprocessing and feature engineering steps prepare a semantically coherent, feature-ready dataset for similarity modeling and downstream evaluation.</a:t>
            </a:r>
          </a:p>
          <a:p>
            <a:r>
              <a:rPr lang="en-US" sz="1600" b="1" dirty="0">
                <a:latin typeface="Arial" panose="020B0604020202020204" pitchFamily="34" charset="0"/>
                <a:cs typeface="Arial" panose="020B0604020202020204" pitchFamily="34" charset="0"/>
              </a:rPr>
              <a:t>Output: </a:t>
            </a:r>
          </a:p>
          <a:p>
            <a:pPr lvl="1"/>
            <a:r>
              <a:rPr lang="en-US" sz="1400" dirty="0">
                <a:latin typeface="Arial" panose="020B0604020202020204" pitchFamily="34" charset="0"/>
                <a:cs typeface="Arial" panose="020B0604020202020204" pitchFamily="34" charset="0"/>
              </a:rPr>
              <a:t>Cleaned, feature-ready dataset exported for similarity modeling and downstream evaluation</a:t>
            </a:r>
          </a:p>
        </p:txBody>
      </p:sp>
      <p:pic>
        <p:nvPicPr>
          <p:cNvPr id="2050" name="Picture 2">
            <a:extLst>
              <a:ext uri="{FF2B5EF4-FFF2-40B4-BE49-F238E27FC236}">
                <a16:creationId xmlns:a16="http://schemas.microsoft.com/office/drawing/2014/main" id="{C087924A-52CD-CB8C-2C26-8D789B9773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04389" y="1140103"/>
            <a:ext cx="3661343" cy="283442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 screenshot of a computer&#10;&#10;AI-generated content may be incorrect.">
            <a:extLst>
              <a:ext uri="{FF2B5EF4-FFF2-40B4-BE49-F238E27FC236}">
                <a16:creationId xmlns:a16="http://schemas.microsoft.com/office/drawing/2014/main" id="{49FE3AAA-51A6-AF98-2C70-E221B8F32D0D}"/>
              </a:ext>
            </a:extLst>
          </p:cNvPr>
          <p:cNvPicPr>
            <a:picLocks noChangeAspect="1"/>
          </p:cNvPicPr>
          <p:nvPr/>
        </p:nvPicPr>
        <p:blipFill>
          <a:blip r:embed="rId3"/>
          <a:stretch>
            <a:fillRect/>
          </a:stretch>
        </p:blipFill>
        <p:spPr>
          <a:xfrm>
            <a:off x="6639267" y="4030128"/>
            <a:ext cx="4191585" cy="1981477"/>
          </a:xfrm>
          <a:prstGeom prst="rect">
            <a:avLst/>
          </a:prstGeom>
        </p:spPr>
      </p:pic>
      <p:sp>
        <p:nvSpPr>
          <p:cNvPr id="4" name="Rectangle 3">
            <a:extLst>
              <a:ext uri="{FF2B5EF4-FFF2-40B4-BE49-F238E27FC236}">
                <a16:creationId xmlns:a16="http://schemas.microsoft.com/office/drawing/2014/main" id="{AFF84AC8-EE19-BD81-9A38-3C6938956AFB}"/>
              </a:ext>
            </a:extLst>
          </p:cNvPr>
          <p:cNvSpPr/>
          <p:nvPr/>
        </p:nvSpPr>
        <p:spPr>
          <a:xfrm>
            <a:off x="0" y="0"/>
            <a:ext cx="172720" cy="6858000"/>
          </a:xfrm>
          <a:prstGeom prst="rect">
            <a:avLst/>
          </a:prstGeom>
          <a:gradFill flip="none" rotWithShape="1">
            <a:gsLst>
              <a:gs pos="0">
                <a:srgbClr val="B0060F"/>
              </a:gs>
              <a:gs pos="53000">
                <a:srgbClr val="FF0000"/>
              </a:gs>
              <a:gs pos="100000">
                <a:schemeClr val="tx1"/>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 name="Title 1">
            <a:extLst>
              <a:ext uri="{FF2B5EF4-FFF2-40B4-BE49-F238E27FC236}">
                <a16:creationId xmlns:a16="http://schemas.microsoft.com/office/drawing/2014/main" id="{FB3A488F-4627-4DBF-DCC0-730B7AE3B2B3}"/>
              </a:ext>
            </a:extLst>
          </p:cNvPr>
          <p:cNvSpPr txBox="1">
            <a:spLocks/>
          </p:cNvSpPr>
          <p:nvPr/>
        </p:nvSpPr>
        <p:spPr>
          <a:xfrm>
            <a:off x="426720" y="443276"/>
            <a:ext cx="10515600" cy="5492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400" b="1" dirty="0">
                <a:solidFill>
                  <a:srgbClr val="C00000"/>
                </a:solidFill>
                <a:latin typeface="Arial" panose="020B0604020202020204" pitchFamily="34" charset="0"/>
                <a:cs typeface="Arial" panose="020B0604020202020204" pitchFamily="34" charset="0"/>
              </a:rPr>
              <a:t>Data Preprocessing, EDA &amp; Feature Engineering</a:t>
            </a:r>
            <a:endParaRPr lang="en-PH" sz="3400" b="1" dirty="0">
              <a:solidFill>
                <a:srgbClr val="C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638685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6464E-4334-0EAF-9A2A-2F20B2BA9B9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F6461C-8797-083E-5D5D-012ED40A55C5}"/>
              </a:ext>
            </a:extLst>
          </p:cNvPr>
          <p:cNvSpPr>
            <a:spLocks noGrp="1"/>
          </p:cNvSpPr>
          <p:nvPr>
            <p:ph idx="1"/>
          </p:nvPr>
        </p:nvSpPr>
        <p:spPr>
          <a:xfrm>
            <a:off x="838200" y="2503131"/>
            <a:ext cx="5257800" cy="3702541"/>
          </a:xfrm>
        </p:spPr>
        <p:txBody>
          <a:bodyPr>
            <a:noAutofit/>
          </a:bodyPr>
          <a:lstStyle/>
          <a:p>
            <a:r>
              <a:rPr lang="en-US" sz="1400" b="1" dirty="0">
                <a:latin typeface="Arial" panose="020B0604020202020204" pitchFamily="34" charset="0"/>
                <a:cs typeface="Arial" panose="020B0604020202020204" pitchFamily="34" charset="0"/>
              </a:rPr>
              <a:t>Evaluation Sequence:</a:t>
            </a:r>
          </a:p>
          <a:p>
            <a:pPr lvl="1"/>
            <a:r>
              <a:rPr lang="en-US" sz="1400" dirty="0">
                <a:latin typeface="Arial" panose="020B0604020202020204" pitchFamily="34" charset="0"/>
                <a:cs typeface="Arial" panose="020B0604020202020204" pitchFamily="34" charset="0"/>
              </a:rPr>
              <a:t>Rules-based baseline → TF-IDF → Weighted TF-IDF (hybrid) → Semantic embeddings</a:t>
            </a:r>
          </a:p>
          <a:p>
            <a:pPr lvl="1"/>
            <a:r>
              <a:rPr lang="en-US" sz="1400" dirty="0">
                <a:latin typeface="Arial" panose="020B0604020202020204" pitchFamily="34" charset="0"/>
                <a:cs typeface="Arial" panose="020B0604020202020204" pitchFamily="34" charset="0"/>
              </a:rPr>
              <a:t>Designed to isolate gains from increasing model complexity and semantic depth</a:t>
            </a:r>
          </a:p>
          <a:p>
            <a:r>
              <a:rPr lang="en-US" sz="1400" b="1" dirty="0">
                <a:latin typeface="Arial" panose="020B0604020202020204" pitchFamily="34" charset="0"/>
                <a:cs typeface="Arial" panose="020B0604020202020204" pitchFamily="34" charset="0"/>
              </a:rPr>
              <a:t>Vectorization Scale:</a:t>
            </a:r>
          </a:p>
          <a:p>
            <a:pPr lvl="1"/>
            <a:r>
              <a:rPr lang="en-US" sz="1400" dirty="0">
                <a:latin typeface="Arial" panose="020B0604020202020204" pitchFamily="34" charset="0"/>
                <a:cs typeface="Arial" panose="020B0604020202020204" pitchFamily="34" charset="0"/>
              </a:rPr>
              <a:t>TF-IDF matrix: 8,809 titles × 5,000 features</a:t>
            </a:r>
          </a:p>
          <a:p>
            <a:pPr lvl="1"/>
            <a:r>
              <a:rPr lang="en-US" sz="1400" dirty="0">
                <a:latin typeface="Arial" panose="020B0604020202020204" pitchFamily="34" charset="0"/>
                <a:cs typeface="Arial" panose="020B0604020202020204" pitchFamily="34" charset="0"/>
              </a:rPr>
              <a:t>Cosine similarity: 8,809 × 8,809 (full-catalog retrieval enabled)</a:t>
            </a:r>
          </a:p>
          <a:p>
            <a:r>
              <a:rPr lang="en-US" sz="1400" b="1" dirty="0">
                <a:latin typeface="Arial" panose="020B0604020202020204" pitchFamily="34" charset="0"/>
                <a:cs typeface="Arial" panose="020B0604020202020204" pitchFamily="34" charset="0"/>
              </a:rPr>
              <a:t>Key Observations:</a:t>
            </a:r>
          </a:p>
          <a:p>
            <a:pPr lvl="1"/>
            <a:r>
              <a:rPr lang="en-US" sz="1400" dirty="0">
                <a:latin typeface="Arial" panose="020B0604020202020204" pitchFamily="34" charset="0"/>
                <a:cs typeface="Arial" panose="020B0604020202020204" pitchFamily="34" charset="0"/>
              </a:rPr>
              <a:t>Rules-based and heavily weighted TF-IDF achieved P@K = 1.00 but very low diversity (ILD ≈ 0.03–0.19), indicating repetitive recommendations</a:t>
            </a:r>
          </a:p>
          <a:p>
            <a:pPr lvl="1"/>
            <a:r>
              <a:rPr lang="en-US" sz="1400" dirty="0">
                <a:latin typeface="Arial" panose="020B0604020202020204" pitchFamily="34" charset="0"/>
                <a:cs typeface="Arial" panose="020B0604020202020204" pitchFamily="34" charset="0"/>
              </a:rPr>
              <a:t>Standard TF-IDF improved diversity (ILD = 0.55) but showed reduced relevance stability</a:t>
            </a:r>
          </a:p>
          <a:p>
            <a:pPr lvl="1"/>
            <a:r>
              <a:rPr lang="en-US" sz="1400" dirty="0">
                <a:latin typeface="Arial" panose="020B0604020202020204" pitchFamily="34" charset="0"/>
                <a:cs typeface="Arial" panose="020B0604020202020204" pitchFamily="34" charset="0"/>
              </a:rPr>
              <a:t>Confirms that excessive genre weighting narrows recommendations, motivating balanced approaches</a:t>
            </a:r>
          </a:p>
        </p:txBody>
      </p:sp>
      <p:sp>
        <p:nvSpPr>
          <p:cNvPr id="4" name="Content Placeholder 2">
            <a:extLst>
              <a:ext uri="{FF2B5EF4-FFF2-40B4-BE49-F238E27FC236}">
                <a16:creationId xmlns:a16="http://schemas.microsoft.com/office/drawing/2014/main" id="{80AC445F-2999-5447-404E-BC677C3D363A}"/>
              </a:ext>
            </a:extLst>
          </p:cNvPr>
          <p:cNvSpPr txBox="1">
            <a:spLocks/>
          </p:cNvSpPr>
          <p:nvPr/>
        </p:nvSpPr>
        <p:spPr>
          <a:xfrm>
            <a:off x="838200" y="1507565"/>
            <a:ext cx="10515600" cy="87340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latin typeface="Arial" panose="020B0604020202020204" pitchFamily="34" charset="0"/>
                <a:cs typeface="Arial" panose="020B0604020202020204" pitchFamily="34" charset="0"/>
              </a:rPr>
              <a:t>Models were evaluated progressively, starting from simple and fully explainable baselines and advancing toward richer semantic representations to assess trade-offs between relevance, diversity, and catalog exposure, with final selection (Selection Score) based on a composite score that weighted relevance highest while enforcing diversity and coverage constraints.</a:t>
            </a:r>
            <a:endParaRPr lang="en-PH" sz="1600" dirty="0">
              <a:latin typeface="Arial" panose="020B0604020202020204" pitchFamily="34" charset="0"/>
              <a:cs typeface="Arial" panose="020B0604020202020204" pitchFamily="34" charset="0"/>
            </a:endParaRPr>
          </a:p>
        </p:txBody>
      </p:sp>
      <p:pic>
        <p:nvPicPr>
          <p:cNvPr id="7" name="Picture 6" descr="A screenshot of a computer&#10;&#10;AI-generated content may be incorrect.">
            <a:extLst>
              <a:ext uri="{FF2B5EF4-FFF2-40B4-BE49-F238E27FC236}">
                <a16:creationId xmlns:a16="http://schemas.microsoft.com/office/drawing/2014/main" id="{0801FE9F-772A-B9FD-3D70-2C89B0F648A9}"/>
              </a:ext>
            </a:extLst>
          </p:cNvPr>
          <p:cNvPicPr>
            <a:picLocks noChangeAspect="1"/>
          </p:cNvPicPr>
          <p:nvPr/>
        </p:nvPicPr>
        <p:blipFill>
          <a:blip r:embed="rId2"/>
          <a:stretch>
            <a:fillRect/>
          </a:stretch>
        </p:blipFill>
        <p:spPr>
          <a:xfrm>
            <a:off x="6980940" y="2350731"/>
            <a:ext cx="4000890" cy="1429822"/>
          </a:xfrm>
          <a:prstGeom prst="rect">
            <a:avLst/>
          </a:prstGeom>
        </p:spPr>
      </p:pic>
      <p:pic>
        <p:nvPicPr>
          <p:cNvPr id="8" name="Picture 4">
            <a:extLst>
              <a:ext uri="{FF2B5EF4-FFF2-40B4-BE49-F238E27FC236}">
                <a16:creationId xmlns:a16="http://schemas.microsoft.com/office/drawing/2014/main" id="{FCEF9BC5-9AE3-64C6-8D89-1079506AB2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00636" y="3790106"/>
            <a:ext cx="5761499" cy="285453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DD87FEF0-595E-9C73-4A7A-28ABAA2E7ACF}"/>
              </a:ext>
            </a:extLst>
          </p:cNvPr>
          <p:cNvSpPr/>
          <p:nvPr/>
        </p:nvSpPr>
        <p:spPr>
          <a:xfrm>
            <a:off x="0" y="0"/>
            <a:ext cx="172720" cy="6858000"/>
          </a:xfrm>
          <a:prstGeom prst="rect">
            <a:avLst/>
          </a:prstGeom>
          <a:gradFill flip="none" rotWithShape="1">
            <a:gsLst>
              <a:gs pos="0">
                <a:srgbClr val="B0060F"/>
              </a:gs>
              <a:gs pos="53000">
                <a:srgbClr val="FF0000"/>
              </a:gs>
              <a:gs pos="100000">
                <a:schemeClr val="tx1"/>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0" name="Title 1">
            <a:extLst>
              <a:ext uri="{FF2B5EF4-FFF2-40B4-BE49-F238E27FC236}">
                <a16:creationId xmlns:a16="http://schemas.microsoft.com/office/drawing/2014/main" id="{E7B4731E-A785-25AD-97A5-8AEEA4C2DAD1}"/>
              </a:ext>
            </a:extLst>
          </p:cNvPr>
          <p:cNvSpPr txBox="1">
            <a:spLocks/>
          </p:cNvSpPr>
          <p:nvPr/>
        </p:nvSpPr>
        <p:spPr>
          <a:xfrm>
            <a:off x="426720" y="471557"/>
            <a:ext cx="10515600" cy="94212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400" b="1" dirty="0">
                <a:solidFill>
                  <a:srgbClr val="C00000"/>
                </a:solidFill>
                <a:latin typeface="Arial" panose="020B0604020202020204" pitchFamily="34" charset="0"/>
                <a:cs typeface="Arial" panose="020B0604020202020204" pitchFamily="34" charset="0"/>
              </a:rPr>
              <a:t>Model Building, Hyperparameter Tuning, Evaluation &amp; Final Model Selection</a:t>
            </a:r>
            <a:endParaRPr lang="en-PH" sz="3400" b="1" dirty="0">
              <a:solidFill>
                <a:srgbClr val="C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263495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446DA-9D9A-74D3-F395-11D513DE54B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1BF949-64B4-2238-DFD2-739801DF178A}"/>
              </a:ext>
            </a:extLst>
          </p:cNvPr>
          <p:cNvSpPr>
            <a:spLocks noGrp="1"/>
          </p:cNvSpPr>
          <p:nvPr>
            <p:ph idx="1"/>
          </p:nvPr>
        </p:nvSpPr>
        <p:spPr>
          <a:xfrm>
            <a:off x="838200" y="1487488"/>
            <a:ext cx="5894713" cy="4351338"/>
          </a:xfrm>
        </p:spPr>
        <p:txBody>
          <a:bodyPr>
            <a:noAutofit/>
          </a:bodyPr>
          <a:lstStyle/>
          <a:p>
            <a:r>
              <a:rPr lang="en-US" sz="1150" b="1" dirty="0">
                <a:latin typeface="Arial" panose="020B0604020202020204" pitchFamily="34" charset="0"/>
                <a:cs typeface="Arial" panose="020B0604020202020204" pitchFamily="34" charset="0"/>
              </a:rPr>
              <a:t>Model comparison (Proxy KPIs): </a:t>
            </a:r>
          </a:p>
          <a:p>
            <a:pPr lvl="1"/>
            <a:r>
              <a:rPr lang="en-US" sz="1150" dirty="0">
                <a:latin typeface="Arial" panose="020B0604020202020204" pitchFamily="34" charset="0"/>
                <a:cs typeface="Arial" panose="020B0604020202020204" pitchFamily="34" charset="0"/>
              </a:rPr>
              <a:t>Baseline (Rules-based): P@K 1.00, ILD 0.03, CC 0.05</a:t>
            </a:r>
          </a:p>
          <a:p>
            <a:pPr lvl="1"/>
            <a:r>
              <a:rPr lang="en-US" sz="1150" dirty="0">
                <a:latin typeface="Arial" panose="020B0604020202020204" pitchFamily="34" charset="0"/>
                <a:cs typeface="Arial" panose="020B0604020202020204" pitchFamily="34" charset="0"/>
              </a:rPr>
              <a:t>TF-IDF (Model 1): P@K 0.82, ILD 0.55, CC 0.05</a:t>
            </a:r>
          </a:p>
          <a:p>
            <a:pPr lvl="1"/>
            <a:r>
              <a:rPr lang="en-US" sz="1150" dirty="0">
                <a:latin typeface="Arial" panose="020B0604020202020204" pitchFamily="34" charset="0"/>
                <a:cs typeface="Arial" panose="020B0604020202020204" pitchFamily="34" charset="0"/>
              </a:rPr>
              <a:t>Weighted TF-IDF (Tuned): P@K 1.00, ILD 0.19, CC 0.05</a:t>
            </a:r>
          </a:p>
          <a:p>
            <a:pPr lvl="1"/>
            <a:r>
              <a:rPr lang="en-US" sz="1150" dirty="0">
                <a:latin typeface="Arial" panose="020B0604020202020204" pitchFamily="34" charset="0"/>
                <a:cs typeface="Arial" panose="020B0604020202020204" pitchFamily="34" charset="0"/>
              </a:rPr>
              <a:t>Embeddings (Semantic): P@K 0.96, ILD 0.34, CC 0.05.</a:t>
            </a:r>
          </a:p>
          <a:p>
            <a:r>
              <a:rPr lang="en-US" sz="1150" b="1" dirty="0">
                <a:latin typeface="Arial" panose="020B0604020202020204" pitchFamily="34" charset="0"/>
                <a:cs typeface="Arial" panose="020B0604020202020204" pitchFamily="34" charset="0"/>
              </a:rPr>
              <a:t>Hyperparameter Tuning (Model 2 Only): </a:t>
            </a:r>
          </a:p>
          <a:p>
            <a:pPr lvl="1"/>
            <a:r>
              <a:rPr lang="en-US" sz="1150" dirty="0">
                <a:latin typeface="Arial" panose="020B0604020202020204" pitchFamily="34" charset="0"/>
                <a:cs typeface="Arial" panose="020B0604020202020204" pitchFamily="34" charset="0"/>
              </a:rPr>
              <a:t>Genre weight tested: 0.4–0.8</a:t>
            </a:r>
          </a:p>
          <a:p>
            <a:pPr lvl="1"/>
            <a:r>
              <a:rPr lang="en-US" sz="1150" dirty="0">
                <a:latin typeface="Arial" panose="020B0604020202020204" pitchFamily="34" charset="0"/>
                <a:cs typeface="Arial" panose="020B0604020202020204" pitchFamily="34" charset="0"/>
              </a:rPr>
              <a:t>P@K peaks around 0.4; higher weights reduce diversity and coverage</a:t>
            </a:r>
          </a:p>
          <a:p>
            <a:pPr lvl="1"/>
            <a:r>
              <a:rPr lang="en-US" sz="1150" dirty="0">
                <a:latin typeface="Arial" panose="020B0604020202020204" pitchFamily="34" charset="0"/>
                <a:cs typeface="Arial" panose="020B0604020202020204" pitchFamily="34" charset="0"/>
              </a:rPr>
              <a:t>Tuning applied only to Model 2 due to its interpretable control parameter; other models are fixed or pretrained.</a:t>
            </a:r>
          </a:p>
          <a:p>
            <a:r>
              <a:rPr lang="en-US" sz="1150" b="1" dirty="0">
                <a:latin typeface="Arial" panose="020B0604020202020204" pitchFamily="34" charset="0"/>
                <a:cs typeface="Arial" panose="020B0604020202020204" pitchFamily="34" charset="0"/>
              </a:rPr>
              <a:t>Final model selected: Embeddings - Semantic Similarity </a:t>
            </a:r>
          </a:p>
          <a:p>
            <a:pPr lvl="1"/>
            <a:r>
              <a:rPr lang="en-US" sz="1150" b="1" dirty="0">
                <a:latin typeface="Arial" panose="020B0604020202020204" pitchFamily="34" charset="0"/>
                <a:cs typeface="Arial" panose="020B0604020202020204" pitchFamily="34" charset="0"/>
              </a:rPr>
              <a:t>P@K: 0.96</a:t>
            </a:r>
          </a:p>
          <a:p>
            <a:pPr lvl="1"/>
            <a:r>
              <a:rPr lang="en-US" sz="1150" b="1" dirty="0">
                <a:latin typeface="Arial" panose="020B0604020202020204" pitchFamily="34" charset="0"/>
                <a:cs typeface="Arial" panose="020B0604020202020204" pitchFamily="34" charset="0"/>
              </a:rPr>
              <a:t>ILD: 0.34</a:t>
            </a:r>
          </a:p>
          <a:p>
            <a:pPr lvl="1"/>
            <a:r>
              <a:rPr lang="en-US" sz="1150" b="1" dirty="0">
                <a:latin typeface="Arial" panose="020B0604020202020204" pitchFamily="34" charset="0"/>
                <a:cs typeface="Arial" panose="020B0604020202020204" pitchFamily="34" charset="0"/>
              </a:rPr>
              <a:t>CC: 0.05</a:t>
            </a:r>
          </a:p>
          <a:p>
            <a:pPr lvl="1"/>
            <a:r>
              <a:rPr lang="en-US" sz="1150" dirty="0">
                <a:latin typeface="Arial" panose="020B0604020202020204" pitchFamily="34" charset="0"/>
                <a:cs typeface="Arial" panose="020B0604020202020204" pitchFamily="34" charset="0"/>
              </a:rPr>
              <a:t>Composite Selection Score (Relevance–Diversity–Exposure weighted):  </a:t>
            </a:r>
            <a:r>
              <a:rPr lang="en-US" sz="1150" b="1" dirty="0">
                <a:latin typeface="Arial" panose="020B0604020202020204" pitchFamily="34" charset="0"/>
                <a:cs typeface="Arial" panose="020B0604020202020204" pitchFamily="34" charset="0"/>
              </a:rPr>
              <a:t>0.59</a:t>
            </a:r>
          </a:p>
          <a:p>
            <a:r>
              <a:rPr lang="en-US" sz="1150" b="1" dirty="0">
                <a:latin typeface="Arial" panose="020B0604020202020204" pitchFamily="34" charset="0"/>
                <a:cs typeface="Arial" panose="020B0604020202020204" pitchFamily="34" charset="0"/>
              </a:rPr>
              <a:t>Business &amp; technical rationale: </a:t>
            </a:r>
          </a:p>
          <a:p>
            <a:pPr lvl="1"/>
            <a:r>
              <a:rPr lang="en-US" sz="1150" dirty="0">
                <a:latin typeface="Arial" panose="020B0604020202020204" pitchFamily="34" charset="0"/>
                <a:cs typeface="Arial" panose="020B0604020202020204" pitchFamily="34" charset="0"/>
              </a:rPr>
              <a:t>Strong relevance without excessive repetition</a:t>
            </a:r>
          </a:p>
          <a:p>
            <a:pPr lvl="1"/>
            <a:r>
              <a:rPr lang="en-US" sz="1150" dirty="0">
                <a:latin typeface="Arial" panose="020B0604020202020204" pitchFamily="34" charset="0"/>
                <a:cs typeface="Arial" panose="020B0604020202020204" pitchFamily="34" charset="0"/>
              </a:rPr>
              <a:t>Improved semantic matching beyond keyword overlap</a:t>
            </a:r>
          </a:p>
          <a:p>
            <a:pPr lvl="1"/>
            <a:r>
              <a:rPr lang="en-US" sz="1150" dirty="0">
                <a:latin typeface="Arial" panose="020B0604020202020204" pitchFamily="34" charset="0"/>
                <a:cs typeface="Arial" panose="020B0604020202020204" pitchFamily="34" charset="0"/>
              </a:rPr>
              <a:t>Maintains diversity and catalog exposure</a:t>
            </a:r>
          </a:p>
          <a:p>
            <a:pPr lvl="1"/>
            <a:r>
              <a:rPr lang="en-US" sz="1150" dirty="0">
                <a:latin typeface="Arial" panose="020B0604020202020204" pitchFamily="34" charset="0"/>
                <a:cs typeface="Arial" panose="020B0604020202020204" pitchFamily="34" charset="0"/>
              </a:rPr>
              <a:t>Explainable and robust for real-world, data-limited deployment</a:t>
            </a:r>
          </a:p>
          <a:p>
            <a:r>
              <a:rPr lang="en-US" sz="1150" b="1" dirty="0">
                <a:latin typeface="Arial" panose="020B0604020202020204" pitchFamily="34" charset="0"/>
                <a:cs typeface="Arial" panose="020B0604020202020204" pitchFamily="34" charset="0"/>
              </a:rPr>
              <a:t>Output: </a:t>
            </a:r>
          </a:p>
          <a:p>
            <a:pPr lvl="1"/>
            <a:r>
              <a:rPr lang="en-US" sz="1150" dirty="0">
                <a:latin typeface="Arial" panose="020B0604020202020204" pitchFamily="34" charset="0"/>
                <a:cs typeface="Arial" panose="020B0604020202020204" pitchFamily="34" charset="0"/>
              </a:rPr>
              <a:t>Final similarity artifacts saved for downstream recommendation delivery</a:t>
            </a:r>
          </a:p>
        </p:txBody>
      </p:sp>
      <p:pic>
        <p:nvPicPr>
          <p:cNvPr id="6" name="Picture 2">
            <a:extLst>
              <a:ext uri="{FF2B5EF4-FFF2-40B4-BE49-F238E27FC236}">
                <a16:creationId xmlns:a16="http://schemas.microsoft.com/office/drawing/2014/main" id="{DBDF8E34-02F9-CCD2-5320-0D3FF9D989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12027" y="1392383"/>
            <a:ext cx="4620886" cy="2567159"/>
          </a:xfrm>
          <a:prstGeom prst="rect">
            <a:avLst/>
          </a:prstGeom>
          <a:noFill/>
          <a:extLst>
            <a:ext uri="{909E8E84-426E-40DD-AFC4-6F175D3DCCD1}">
              <a14:hiddenFill xmlns:a14="http://schemas.microsoft.com/office/drawing/2010/main">
                <a:solidFill>
                  <a:srgbClr val="FFFFFF"/>
                </a:solidFill>
              </a14:hiddenFill>
            </a:ext>
          </a:extLst>
        </p:spPr>
      </p:pic>
      <p:grpSp>
        <p:nvGrpSpPr>
          <p:cNvPr id="13" name="Group 12">
            <a:extLst>
              <a:ext uri="{FF2B5EF4-FFF2-40B4-BE49-F238E27FC236}">
                <a16:creationId xmlns:a16="http://schemas.microsoft.com/office/drawing/2014/main" id="{83C87224-8B56-FEC8-76EC-ADBE33BAAF2B}"/>
              </a:ext>
            </a:extLst>
          </p:cNvPr>
          <p:cNvGrpSpPr/>
          <p:nvPr/>
        </p:nvGrpSpPr>
        <p:grpSpPr>
          <a:xfrm>
            <a:off x="6912027" y="3959542"/>
            <a:ext cx="4739507" cy="2415976"/>
            <a:chOff x="6732914" y="4274344"/>
            <a:chExt cx="4620887" cy="2331891"/>
          </a:xfrm>
        </p:grpSpPr>
        <p:pic>
          <p:nvPicPr>
            <p:cNvPr id="8" name="Picture 7" descr="A screen shot of a computer code&#10;&#10;AI-generated content may be incorrect.">
              <a:extLst>
                <a:ext uri="{FF2B5EF4-FFF2-40B4-BE49-F238E27FC236}">
                  <a16:creationId xmlns:a16="http://schemas.microsoft.com/office/drawing/2014/main" id="{5A36EF7B-14DF-C7E1-5406-BEB7C9B38063}"/>
                </a:ext>
              </a:extLst>
            </p:cNvPr>
            <p:cNvPicPr>
              <a:picLocks noChangeAspect="1"/>
            </p:cNvPicPr>
            <p:nvPr/>
          </p:nvPicPr>
          <p:blipFill>
            <a:blip r:embed="rId4"/>
            <a:stretch>
              <a:fillRect/>
            </a:stretch>
          </p:blipFill>
          <p:spPr>
            <a:xfrm>
              <a:off x="6732915" y="4274344"/>
              <a:ext cx="4620886" cy="1108715"/>
            </a:xfrm>
            <a:prstGeom prst="rect">
              <a:avLst/>
            </a:prstGeom>
          </p:spPr>
        </p:pic>
        <p:pic>
          <p:nvPicPr>
            <p:cNvPr id="12" name="Picture 11" descr="A screenshot of a graph&#10;&#10;AI-generated content may be incorrect.">
              <a:extLst>
                <a:ext uri="{FF2B5EF4-FFF2-40B4-BE49-F238E27FC236}">
                  <a16:creationId xmlns:a16="http://schemas.microsoft.com/office/drawing/2014/main" id="{1DE1A5CA-85D6-C394-3DA1-1E1B2B25BA35}"/>
                </a:ext>
              </a:extLst>
            </p:cNvPr>
            <p:cNvPicPr>
              <a:picLocks noChangeAspect="1"/>
            </p:cNvPicPr>
            <p:nvPr/>
          </p:nvPicPr>
          <p:blipFill>
            <a:blip r:embed="rId5"/>
            <a:stretch>
              <a:fillRect/>
            </a:stretch>
          </p:blipFill>
          <p:spPr>
            <a:xfrm>
              <a:off x="6732914" y="5383059"/>
              <a:ext cx="4620886" cy="1223176"/>
            </a:xfrm>
            <a:prstGeom prst="rect">
              <a:avLst/>
            </a:prstGeom>
          </p:spPr>
        </p:pic>
      </p:grpSp>
      <p:sp>
        <p:nvSpPr>
          <p:cNvPr id="4" name="Rectangle 3">
            <a:extLst>
              <a:ext uri="{FF2B5EF4-FFF2-40B4-BE49-F238E27FC236}">
                <a16:creationId xmlns:a16="http://schemas.microsoft.com/office/drawing/2014/main" id="{5ABDEBDC-E316-F9BB-A910-44D769694FBE}"/>
              </a:ext>
            </a:extLst>
          </p:cNvPr>
          <p:cNvSpPr/>
          <p:nvPr/>
        </p:nvSpPr>
        <p:spPr>
          <a:xfrm>
            <a:off x="0" y="0"/>
            <a:ext cx="172720" cy="6858000"/>
          </a:xfrm>
          <a:prstGeom prst="rect">
            <a:avLst/>
          </a:prstGeom>
          <a:gradFill flip="none" rotWithShape="1">
            <a:gsLst>
              <a:gs pos="0">
                <a:srgbClr val="B0060F"/>
              </a:gs>
              <a:gs pos="53000">
                <a:srgbClr val="FF0000"/>
              </a:gs>
              <a:gs pos="100000">
                <a:schemeClr val="tx1"/>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 name="Title 1">
            <a:extLst>
              <a:ext uri="{FF2B5EF4-FFF2-40B4-BE49-F238E27FC236}">
                <a16:creationId xmlns:a16="http://schemas.microsoft.com/office/drawing/2014/main" id="{42B4E3B3-E0FB-BC47-6A0B-5D56000099E5}"/>
              </a:ext>
            </a:extLst>
          </p:cNvPr>
          <p:cNvSpPr txBox="1">
            <a:spLocks/>
          </p:cNvSpPr>
          <p:nvPr/>
        </p:nvSpPr>
        <p:spPr>
          <a:xfrm>
            <a:off x="426720" y="471557"/>
            <a:ext cx="10515600" cy="94212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400" b="1" dirty="0">
                <a:solidFill>
                  <a:srgbClr val="C00000"/>
                </a:solidFill>
                <a:latin typeface="Arial" panose="020B0604020202020204" pitchFamily="34" charset="0"/>
                <a:cs typeface="Arial" panose="020B0604020202020204" pitchFamily="34" charset="0"/>
              </a:rPr>
              <a:t>Model Building, Hyperparameter Tuning, Evaluation &amp; Final Model Selection</a:t>
            </a:r>
            <a:endParaRPr lang="en-PH" sz="3400" b="1" dirty="0">
              <a:solidFill>
                <a:srgbClr val="C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497990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4D0FE3-17D8-A4CF-6082-C77482565AB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8F4AEF-E9D2-F4CF-C432-6C2E67421E53}"/>
              </a:ext>
            </a:extLst>
          </p:cNvPr>
          <p:cNvSpPr>
            <a:spLocks noGrp="1"/>
          </p:cNvSpPr>
          <p:nvPr>
            <p:ph idx="1"/>
          </p:nvPr>
        </p:nvSpPr>
        <p:spPr>
          <a:xfrm>
            <a:off x="838200" y="2054810"/>
            <a:ext cx="4019746" cy="3959256"/>
          </a:xfrm>
        </p:spPr>
        <p:txBody>
          <a:bodyPr>
            <a:normAutofit/>
          </a:bodyPr>
          <a:lstStyle/>
          <a:p>
            <a:r>
              <a:rPr lang="en-US" sz="2200" b="1" dirty="0">
                <a:latin typeface="Arial" panose="020B0604020202020204" pitchFamily="34" charset="0"/>
                <a:cs typeface="Arial" panose="020B0604020202020204" pitchFamily="34" charset="0"/>
              </a:rPr>
              <a:t>Qualitative Relevance:</a:t>
            </a:r>
          </a:p>
          <a:p>
            <a:pPr lvl="1"/>
            <a:r>
              <a:rPr lang="en-US" sz="2200" dirty="0">
                <a:latin typeface="Arial" panose="020B0604020202020204" pitchFamily="34" charset="0"/>
                <a:cs typeface="Arial" panose="020B0604020202020204" pitchFamily="34" charset="0"/>
              </a:rPr>
              <a:t>Anchor titles (e.g., Dick Johnson Is Dead, Ghost Rider, Show Dogs) retrieve genre-and theme-consistent results, validating semantic similarity behavior.</a:t>
            </a:r>
          </a:p>
        </p:txBody>
      </p:sp>
      <p:sp>
        <p:nvSpPr>
          <p:cNvPr id="4" name="Content Placeholder 2">
            <a:extLst>
              <a:ext uri="{FF2B5EF4-FFF2-40B4-BE49-F238E27FC236}">
                <a16:creationId xmlns:a16="http://schemas.microsoft.com/office/drawing/2014/main" id="{CFE92F86-00E6-6E49-37C0-04DA84C05DDB}"/>
              </a:ext>
            </a:extLst>
          </p:cNvPr>
          <p:cNvSpPr txBox="1">
            <a:spLocks/>
          </p:cNvSpPr>
          <p:nvPr/>
        </p:nvSpPr>
        <p:spPr>
          <a:xfrm>
            <a:off x="838200" y="1041882"/>
            <a:ext cx="10515600" cy="939390"/>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2400" dirty="0">
                <a:latin typeface="Arial" panose="020B0604020202020204" pitchFamily="34" charset="0"/>
                <a:cs typeface="Arial" panose="020B0604020202020204" pitchFamily="34" charset="0"/>
              </a:rPr>
              <a:t>The final recommender produces thematically consistent, context-aware recommendations across diverse anchor titles, demonstrating stable behavior under data-limited conditions.</a:t>
            </a:r>
            <a:endParaRPr lang="en-PH" sz="2400" dirty="0">
              <a:latin typeface="Arial" panose="020B0604020202020204" pitchFamily="34" charset="0"/>
              <a:cs typeface="Arial" panose="020B0604020202020204" pitchFamily="34" charset="0"/>
            </a:endParaRPr>
          </a:p>
        </p:txBody>
      </p:sp>
      <p:pic>
        <p:nvPicPr>
          <p:cNvPr id="6" name="Picture 5" descr="A screenshot of a computer&#10;&#10;AI-generated content may be incorrect.">
            <a:extLst>
              <a:ext uri="{FF2B5EF4-FFF2-40B4-BE49-F238E27FC236}">
                <a16:creationId xmlns:a16="http://schemas.microsoft.com/office/drawing/2014/main" id="{CA26F377-98BC-D93F-EA0B-A2F39196EA9D}"/>
              </a:ext>
            </a:extLst>
          </p:cNvPr>
          <p:cNvPicPr>
            <a:picLocks noChangeAspect="1"/>
          </p:cNvPicPr>
          <p:nvPr/>
        </p:nvPicPr>
        <p:blipFill>
          <a:blip r:embed="rId3"/>
          <a:stretch>
            <a:fillRect/>
          </a:stretch>
        </p:blipFill>
        <p:spPr>
          <a:xfrm>
            <a:off x="4857946" y="2125848"/>
            <a:ext cx="3381290" cy="4266557"/>
          </a:xfrm>
          <a:prstGeom prst="rect">
            <a:avLst/>
          </a:prstGeom>
        </p:spPr>
      </p:pic>
      <p:pic>
        <p:nvPicPr>
          <p:cNvPr id="15" name="Picture 14" descr="A screenshot of a computer&#10;&#10;AI-generated content may be incorrect.">
            <a:extLst>
              <a:ext uri="{FF2B5EF4-FFF2-40B4-BE49-F238E27FC236}">
                <a16:creationId xmlns:a16="http://schemas.microsoft.com/office/drawing/2014/main" id="{A829D19B-1E8D-48A5-EE63-007FFE3A3B92}"/>
              </a:ext>
            </a:extLst>
          </p:cNvPr>
          <p:cNvPicPr>
            <a:picLocks noChangeAspect="1"/>
          </p:cNvPicPr>
          <p:nvPr/>
        </p:nvPicPr>
        <p:blipFill>
          <a:blip r:embed="rId4"/>
          <a:stretch>
            <a:fillRect/>
          </a:stretch>
        </p:blipFill>
        <p:spPr>
          <a:xfrm>
            <a:off x="8239236" y="2125848"/>
            <a:ext cx="3395651" cy="4266557"/>
          </a:xfrm>
          <a:prstGeom prst="rect">
            <a:avLst/>
          </a:prstGeom>
        </p:spPr>
      </p:pic>
      <p:sp>
        <p:nvSpPr>
          <p:cNvPr id="5" name="Rectangle 4">
            <a:extLst>
              <a:ext uri="{FF2B5EF4-FFF2-40B4-BE49-F238E27FC236}">
                <a16:creationId xmlns:a16="http://schemas.microsoft.com/office/drawing/2014/main" id="{A14EAE18-3386-4A14-ACA8-0109132F3A8F}"/>
              </a:ext>
            </a:extLst>
          </p:cNvPr>
          <p:cNvSpPr/>
          <p:nvPr/>
        </p:nvSpPr>
        <p:spPr>
          <a:xfrm>
            <a:off x="0" y="0"/>
            <a:ext cx="172720" cy="6858000"/>
          </a:xfrm>
          <a:prstGeom prst="rect">
            <a:avLst/>
          </a:prstGeom>
          <a:gradFill flip="none" rotWithShape="1">
            <a:gsLst>
              <a:gs pos="0">
                <a:srgbClr val="B0060F"/>
              </a:gs>
              <a:gs pos="53000">
                <a:srgbClr val="FF0000"/>
              </a:gs>
              <a:gs pos="100000">
                <a:schemeClr val="tx1"/>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9" name="Title 1">
            <a:extLst>
              <a:ext uri="{FF2B5EF4-FFF2-40B4-BE49-F238E27FC236}">
                <a16:creationId xmlns:a16="http://schemas.microsoft.com/office/drawing/2014/main" id="{FEC64A03-CD96-649B-E234-F1C9E2C24151}"/>
              </a:ext>
            </a:extLst>
          </p:cNvPr>
          <p:cNvSpPr txBox="1">
            <a:spLocks/>
          </p:cNvSpPr>
          <p:nvPr/>
        </p:nvSpPr>
        <p:spPr>
          <a:xfrm>
            <a:off x="426720" y="443276"/>
            <a:ext cx="10515600" cy="5492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400" b="1" dirty="0">
                <a:solidFill>
                  <a:srgbClr val="C00000"/>
                </a:solidFill>
                <a:latin typeface="Arial" panose="020B0604020202020204" pitchFamily="34" charset="0"/>
                <a:cs typeface="Arial" panose="020B0604020202020204" pitchFamily="34" charset="0"/>
              </a:rPr>
              <a:t>Recommendation Function &amp; Evaluation Metrics</a:t>
            </a:r>
            <a:endParaRPr lang="en-PH" sz="3400" b="1" dirty="0">
              <a:solidFill>
                <a:srgbClr val="C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744596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D34CE-0B87-0C7F-D6D4-2A38A97E91B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4CB110-3287-1753-907B-2F2CF83DEB87}"/>
              </a:ext>
            </a:extLst>
          </p:cNvPr>
          <p:cNvSpPr>
            <a:spLocks noGrp="1"/>
          </p:cNvSpPr>
          <p:nvPr>
            <p:ph idx="1"/>
          </p:nvPr>
        </p:nvSpPr>
        <p:spPr>
          <a:xfrm>
            <a:off x="703082" y="1194412"/>
            <a:ext cx="5392918" cy="5307149"/>
          </a:xfrm>
        </p:spPr>
        <p:txBody>
          <a:bodyPr>
            <a:noAutofit/>
          </a:bodyPr>
          <a:lstStyle/>
          <a:p>
            <a:r>
              <a:rPr lang="en-US" sz="1400" b="1" dirty="0">
                <a:latin typeface="Arial" panose="020B0604020202020204" pitchFamily="34" charset="0"/>
                <a:cs typeface="Arial" panose="020B0604020202020204" pitchFamily="34" charset="0"/>
              </a:rPr>
              <a:t>Intra-List Diversity (ILD):</a:t>
            </a:r>
          </a:p>
          <a:p>
            <a:pPr lvl="1"/>
            <a:r>
              <a:rPr lang="en-US" sz="1400" dirty="0">
                <a:latin typeface="Arial" panose="020B0604020202020204" pitchFamily="34" charset="0"/>
                <a:cs typeface="Arial" panose="020B0604020202020204" pitchFamily="34" charset="0"/>
              </a:rPr>
              <a:t>Ranges from 0.20 (narrow family titles) to 0.78 (broader crime/drama titles);</a:t>
            </a:r>
            <a:br>
              <a:rPr lang="en-US" sz="1400" dirty="0">
                <a:latin typeface="Arial" panose="020B0604020202020204" pitchFamily="34" charset="0"/>
                <a:cs typeface="Arial" panose="020B0604020202020204" pitchFamily="34" charset="0"/>
              </a:rPr>
            </a:br>
            <a:r>
              <a:rPr lang="en-US" sz="1400" dirty="0">
                <a:latin typeface="Arial" panose="020B0604020202020204" pitchFamily="34" charset="0"/>
                <a:cs typeface="Arial" panose="020B0604020202020204" pitchFamily="34" charset="0"/>
              </a:rPr>
              <a:t>documentaries show moderate diversity (0.38–0.71).</a:t>
            </a:r>
          </a:p>
          <a:p>
            <a:pPr lvl="1"/>
            <a:r>
              <a:rPr lang="en-US" sz="1400" dirty="0">
                <a:latin typeface="Arial" panose="020B0604020202020204" pitchFamily="34" charset="0"/>
                <a:cs typeface="Arial" panose="020B0604020202020204" pitchFamily="34" charset="0"/>
              </a:rPr>
              <a:t>Low variance (0.056, Std. Dev. 0.237) confirms stable diversity across anchors.</a:t>
            </a:r>
          </a:p>
          <a:p>
            <a:r>
              <a:rPr lang="en-US" sz="1400" b="1" dirty="0">
                <a:latin typeface="Arial" panose="020B0604020202020204" pitchFamily="34" charset="0"/>
                <a:cs typeface="Arial" panose="020B0604020202020204" pitchFamily="34" charset="0"/>
              </a:rPr>
              <a:t>Catalog Coverage (CC):</a:t>
            </a:r>
          </a:p>
          <a:p>
            <a:pPr lvl="1"/>
            <a:r>
              <a:rPr lang="en-US" sz="1400" dirty="0">
                <a:latin typeface="Arial" panose="020B0604020202020204" pitchFamily="34" charset="0"/>
                <a:cs typeface="Arial" panose="020B0604020202020204" pitchFamily="34" charset="0"/>
              </a:rPr>
              <a:t>Consistently 0.001 per Top-10 list (~0.1% of 8,809 titles)</a:t>
            </a:r>
          </a:p>
          <a:p>
            <a:pPr lvl="1"/>
            <a:r>
              <a:rPr lang="en-US" sz="1400" dirty="0">
                <a:latin typeface="Arial" panose="020B0604020202020204" pitchFamily="34" charset="0"/>
                <a:cs typeface="Arial" panose="020B0604020202020204" pitchFamily="34" charset="0"/>
              </a:rPr>
              <a:t>Near-zero variance confirms coverage is structurally constrained by fixed Top-K size, not model instability</a:t>
            </a:r>
          </a:p>
          <a:p>
            <a:r>
              <a:rPr lang="en-US" sz="1400" b="1" dirty="0">
                <a:latin typeface="Arial" panose="020B0604020202020204" pitchFamily="34" charset="0"/>
                <a:cs typeface="Arial" panose="020B0604020202020204" pitchFamily="34" charset="0"/>
              </a:rPr>
              <a:t>Robustness &amp; Business Interpretation:</a:t>
            </a:r>
          </a:p>
          <a:p>
            <a:pPr lvl="1"/>
            <a:r>
              <a:rPr lang="en-US" sz="1400" dirty="0">
                <a:latin typeface="Arial" panose="020B0604020202020204" pitchFamily="34" charset="0"/>
                <a:cs typeface="Arial" panose="020B0604020202020204" pitchFamily="34" charset="0"/>
              </a:rPr>
              <a:t>Multi-anchor evaluation shows predictable, controlled behavior.</a:t>
            </a:r>
          </a:p>
          <a:p>
            <a:pPr lvl="1"/>
            <a:r>
              <a:rPr lang="en-US" sz="1400" dirty="0">
                <a:latin typeface="Arial" panose="020B0604020202020204" pitchFamily="34" charset="0"/>
                <a:cs typeface="Arial" panose="020B0604020202020204" pitchFamily="34" charset="0"/>
              </a:rPr>
              <a:t>Delivers precision-focused recommendations with appropriate diversity, suitable for cold-start and metadata-only deployment.</a:t>
            </a:r>
          </a:p>
          <a:p>
            <a:r>
              <a:rPr lang="en-US" sz="1400" b="1" dirty="0">
                <a:latin typeface="Arial" panose="020B0604020202020204" pitchFamily="34" charset="0"/>
                <a:cs typeface="Arial" panose="020B0604020202020204" pitchFamily="34" charset="0"/>
              </a:rPr>
              <a:t>Variance Across Anchors:</a:t>
            </a:r>
          </a:p>
          <a:p>
            <a:pPr lvl="1"/>
            <a:r>
              <a:rPr lang="en-US" sz="1400" dirty="0">
                <a:latin typeface="Arial" panose="020B0604020202020204" pitchFamily="34" charset="0"/>
                <a:cs typeface="Arial" panose="020B0604020202020204" pitchFamily="34" charset="0"/>
              </a:rPr>
              <a:t>Low variance in ILD (0.056, SD = 0.237) and zero variance in CC(0.000) confirm that recommendation quality is stable across different anchor titles, indicating controlled system behavior rather than sensitivity to specific content.</a:t>
            </a:r>
          </a:p>
        </p:txBody>
      </p:sp>
      <p:pic>
        <p:nvPicPr>
          <p:cNvPr id="5" name="Picture 4" descr="A screenshot of a computer&#10;&#10;AI-generated content may be incorrect.">
            <a:extLst>
              <a:ext uri="{FF2B5EF4-FFF2-40B4-BE49-F238E27FC236}">
                <a16:creationId xmlns:a16="http://schemas.microsoft.com/office/drawing/2014/main" id="{FE2D8777-D872-82AF-0E5A-5AF9006231F3}"/>
              </a:ext>
            </a:extLst>
          </p:cNvPr>
          <p:cNvPicPr>
            <a:picLocks noChangeAspect="1"/>
          </p:cNvPicPr>
          <p:nvPr/>
        </p:nvPicPr>
        <p:blipFill>
          <a:blip r:embed="rId3"/>
          <a:stretch>
            <a:fillRect/>
          </a:stretch>
        </p:blipFill>
        <p:spPr>
          <a:xfrm>
            <a:off x="6163615" y="1194412"/>
            <a:ext cx="5325303" cy="1938632"/>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C5D48194-27E2-F00D-4AB3-2E597D34F900}"/>
              </a:ext>
            </a:extLst>
          </p:cNvPr>
          <p:cNvPicPr>
            <a:picLocks noChangeAspect="1"/>
          </p:cNvPicPr>
          <p:nvPr/>
        </p:nvPicPr>
        <p:blipFill>
          <a:blip r:embed="rId4"/>
          <a:stretch>
            <a:fillRect/>
          </a:stretch>
        </p:blipFill>
        <p:spPr>
          <a:xfrm>
            <a:off x="6163615" y="3133044"/>
            <a:ext cx="5325303" cy="1799928"/>
          </a:xfrm>
          <a:prstGeom prst="rect">
            <a:avLst/>
          </a:prstGeom>
        </p:spPr>
      </p:pic>
      <p:sp>
        <p:nvSpPr>
          <p:cNvPr id="4" name="Rectangle 3">
            <a:extLst>
              <a:ext uri="{FF2B5EF4-FFF2-40B4-BE49-F238E27FC236}">
                <a16:creationId xmlns:a16="http://schemas.microsoft.com/office/drawing/2014/main" id="{0BC47340-F44C-A8D1-069C-EEBF70F2E3A8}"/>
              </a:ext>
            </a:extLst>
          </p:cNvPr>
          <p:cNvSpPr/>
          <p:nvPr/>
        </p:nvSpPr>
        <p:spPr>
          <a:xfrm>
            <a:off x="0" y="0"/>
            <a:ext cx="172720" cy="6858000"/>
          </a:xfrm>
          <a:prstGeom prst="rect">
            <a:avLst/>
          </a:prstGeom>
          <a:gradFill flip="none" rotWithShape="1">
            <a:gsLst>
              <a:gs pos="0">
                <a:srgbClr val="B0060F"/>
              </a:gs>
              <a:gs pos="53000">
                <a:srgbClr val="FF0000"/>
              </a:gs>
              <a:gs pos="100000">
                <a:schemeClr val="tx1"/>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 name="Title 1">
            <a:extLst>
              <a:ext uri="{FF2B5EF4-FFF2-40B4-BE49-F238E27FC236}">
                <a16:creationId xmlns:a16="http://schemas.microsoft.com/office/drawing/2014/main" id="{D0570092-6957-395F-C378-B04A0019A523}"/>
              </a:ext>
            </a:extLst>
          </p:cNvPr>
          <p:cNvSpPr txBox="1">
            <a:spLocks/>
          </p:cNvSpPr>
          <p:nvPr/>
        </p:nvSpPr>
        <p:spPr>
          <a:xfrm>
            <a:off x="426720" y="443276"/>
            <a:ext cx="10515600" cy="5492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400" b="1" dirty="0">
                <a:solidFill>
                  <a:srgbClr val="C00000"/>
                </a:solidFill>
                <a:latin typeface="Arial" panose="020B0604020202020204" pitchFamily="34" charset="0"/>
                <a:cs typeface="Arial" panose="020B0604020202020204" pitchFamily="34" charset="0"/>
              </a:rPr>
              <a:t>Recommendation Function &amp; Evaluation Metrics</a:t>
            </a:r>
            <a:endParaRPr lang="en-PH" sz="3400" b="1" dirty="0">
              <a:solidFill>
                <a:srgbClr val="C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285809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1F30D-3A0A-2906-8295-0C2F45B91A8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65E91D-19EC-211B-3529-AB62040ADFE8}"/>
              </a:ext>
            </a:extLst>
          </p:cNvPr>
          <p:cNvSpPr>
            <a:spLocks noGrp="1"/>
          </p:cNvSpPr>
          <p:nvPr>
            <p:ph idx="1"/>
          </p:nvPr>
        </p:nvSpPr>
        <p:spPr>
          <a:xfrm>
            <a:off x="838200" y="2366455"/>
            <a:ext cx="4949858" cy="4248972"/>
          </a:xfrm>
        </p:spPr>
        <p:txBody>
          <a:bodyPr>
            <a:normAutofit fontScale="92500" lnSpcReduction="10000"/>
          </a:bodyPr>
          <a:lstStyle/>
          <a:p>
            <a:r>
              <a:rPr lang="en-US" sz="1800" b="1" dirty="0">
                <a:latin typeface="Arial" panose="020B0604020202020204" pitchFamily="34" charset="0"/>
                <a:cs typeface="Arial" panose="020B0604020202020204" pitchFamily="34" charset="0"/>
              </a:rPr>
              <a:t>Explainability:</a:t>
            </a:r>
          </a:p>
          <a:p>
            <a:pPr lvl="1"/>
            <a:r>
              <a:rPr lang="en-US" sz="1600" dirty="0">
                <a:latin typeface="Arial" panose="020B0604020202020204" pitchFamily="34" charset="0"/>
                <a:cs typeface="Arial" panose="020B0604020202020204" pitchFamily="34" charset="0"/>
              </a:rPr>
              <a:t>Similarity decisions explained via term overlap (e.g., father, life, death, documentaries)</a:t>
            </a:r>
          </a:p>
          <a:p>
            <a:pPr lvl="1"/>
            <a:r>
              <a:rPr lang="en-US" sz="1600" dirty="0">
                <a:latin typeface="Arial" panose="020B0604020202020204" pitchFamily="34" charset="0"/>
                <a:cs typeface="Arial" panose="020B0604020202020204" pitchFamily="34" charset="0"/>
              </a:rPr>
              <a:t>Controlled feature weighting: genre = 0.40, description = 0.60, ensuring interpretability without black-box behavior.</a:t>
            </a:r>
          </a:p>
          <a:p>
            <a:r>
              <a:rPr lang="en-US" sz="1800" b="1" dirty="0">
                <a:latin typeface="Arial" panose="020B0604020202020204" pitchFamily="34" charset="0"/>
                <a:cs typeface="Arial" panose="020B0604020202020204" pitchFamily="34" charset="0"/>
              </a:rPr>
              <a:t>Bias Auditing</a:t>
            </a:r>
          </a:p>
          <a:p>
            <a:pPr lvl="1"/>
            <a:r>
              <a:rPr lang="en-US" sz="1600" dirty="0">
                <a:latin typeface="Arial" panose="020B0604020202020204" pitchFamily="34" charset="0"/>
                <a:cs typeface="Arial" panose="020B0604020202020204" pitchFamily="34" charset="0"/>
              </a:rPr>
              <a:t>Exposure risks (genre, country, repetition, narrow themes) are detected via distribution metrics, ILD, and Catalog Coverage and mitigated through balanced feature weighting, ILD, and coverage-aware hybrid similarity, ensuring auditable and responsible recommendations.</a:t>
            </a:r>
          </a:p>
          <a:p>
            <a:pPr lvl="1"/>
            <a:r>
              <a:rPr lang="en-US" sz="1600" dirty="0">
                <a:latin typeface="Arial" panose="020B0604020202020204" pitchFamily="34" charset="0"/>
                <a:cs typeface="Arial" panose="020B0604020202020204" pitchFamily="34" charset="0"/>
              </a:rPr>
              <a:t>Highlights risks of regional and genre dominance when relevance is unconstrained.</a:t>
            </a:r>
          </a:p>
          <a:p>
            <a:pPr lvl="1"/>
            <a:r>
              <a:rPr lang="en-US" sz="1600" dirty="0">
                <a:latin typeface="Arial" panose="020B0604020202020204" pitchFamily="34" charset="0"/>
                <a:cs typeface="Arial" panose="020B0604020202020204" pitchFamily="34" charset="0"/>
              </a:rPr>
              <a:t>Exposure shift observed: U.S. titles ~0.25 (catalog) → ~0.50 (recommendations)</a:t>
            </a:r>
          </a:p>
        </p:txBody>
      </p:sp>
      <p:sp>
        <p:nvSpPr>
          <p:cNvPr id="4" name="Content Placeholder 2">
            <a:extLst>
              <a:ext uri="{FF2B5EF4-FFF2-40B4-BE49-F238E27FC236}">
                <a16:creationId xmlns:a16="http://schemas.microsoft.com/office/drawing/2014/main" id="{6562A0BA-E0D4-B368-EBB5-A4BAE39CF26B}"/>
              </a:ext>
            </a:extLst>
          </p:cNvPr>
          <p:cNvSpPr txBox="1">
            <a:spLocks/>
          </p:cNvSpPr>
          <p:nvPr/>
        </p:nvSpPr>
        <p:spPr>
          <a:xfrm>
            <a:off x="838200" y="1427065"/>
            <a:ext cx="10515600" cy="93939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2000" dirty="0">
                <a:latin typeface="Arial" panose="020B0604020202020204" pitchFamily="34" charset="0"/>
                <a:cs typeface="Arial" panose="020B0604020202020204" pitchFamily="34" charset="0"/>
              </a:rPr>
              <a:t>This step evaluates the recommender system through explainability, ethical AI, and bias auditing, and concludes with its technical, business, and future-readiness implications under cold-start and data-limited conditions.</a:t>
            </a:r>
            <a:endParaRPr lang="en-PH" sz="2000" dirty="0">
              <a:latin typeface="Arial" panose="020B0604020202020204" pitchFamily="34" charset="0"/>
              <a:cs typeface="Arial" panose="020B0604020202020204" pitchFamily="34" charset="0"/>
            </a:endParaRPr>
          </a:p>
        </p:txBody>
      </p:sp>
      <p:pic>
        <p:nvPicPr>
          <p:cNvPr id="6" name="Picture 5" descr="A screenshot of a computer&#10;&#10;AI-generated content may be incorrect.">
            <a:extLst>
              <a:ext uri="{FF2B5EF4-FFF2-40B4-BE49-F238E27FC236}">
                <a16:creationId xmlns:a16="http://schemas.microsoft.com/office/drawing/2014/main" id="{0C705CB4-0A6A-EAEC-E8A4-3A074BFAC39D}"/>
              </a:ext>
            </a:extLst>
          </p:cNvPr>
          <p:cNvPicPr>
            <a:picLocks noChangeAspect="1"/>
          </p:cNvPicPr>
          <p:nvPr/>
        </p:nvPicPr>
        <p:blipFill>
          <a:blip r:embed="rId2"/>
          <a:stretch>
            <a:fillRect/>
          </a:stretch>
        </p:blipFill>
        <p:spPr>
          <a:xfrm>
            <a:off x="5788058" y="2379839"/>
            <a:ext cx="2440788" cy="1065977"/>
          </a:xfrm>
          <a:prstGeom prst="rect">
            <a:avLst/>
          </a:prstGeom>
        </p:spPr>
      </p:pic>
      <p:pic>
        <p:nvPicPr>
          <p:cNvPr id="8" name="Picture 7" descr="A screen shot of a computer&#10;&#10;AI-generated content may be incorrect.">
            <a:extLst>
              <a:ext uri="{FF2B5EF4-FFF2-40B4-BE49-F238E27FC236}">
                <a16:creationId xmlns:a16="http://schemas.microsoft.com/office/drawing/2014/main" id="{E95C94DF-A7ED-B5F0-41F7-05C8410DA8AE}"/>
              </a:ext>
            </a:extLst>
          </p:cNvPr>
          <p:cNvPicPr>
            <a:picLocks noChangeAspect="1"/>
          </p:cNvPicPr>
          <p:nvPr/>
        </p:nvPicPr>
        <p:blipFill>
          <a:blip r:embed="rId3"/>
          <a:stretch>
            <a:fillRect/>
          </a:stretch>
        </p:blipFill>
        <p:spPr>
          <a:xfrm>
            <a:off x="8228846" y="2379838"/>
            <a:ext cx="3609255" cy="1065976"/>
          </a:xfrm>
          <a:prstGeom prst="rect">
            <a:avLst/>
          </a:prstGeom>
        </p:spPr>
      </p:pic>
      <p:pic>
        <p:nvPicPr>
          <p:cNvPr id="10" name="Picture 9" descr="A screenshot of a computer&#10;&#10;AI-generated content may be incorrect.">
            <a:extLst>
              <a:ext uri="{FF2B5EF4-FFF2-40B4-BE49-F238E27FC236}">
                <a16:creationId xmlns:a16="http://schemas.microsoft.com/office/drawing/2014/main" id="{816E87CC-EFF9-C5B7-57A0-9722F0E5E5CD}"/>
              </a:ext>
            </a:extLst>
          </p:cNvPr>
          <p:cNvPicPr>
            <a:picLocks noChangeAspect="1"/>
          </p:cNvPicPr>
          <p:nvPr/>
        </p:nvPicPr>
        <p:blipFill>
          <a:blip r:embed="rId4"/>
          <a:stretch>
            <a:fillRect/>
          </a:stretch>
        </p:blipFill>
        <p:spPr>
          <a:xfrm>
            <a:off x="5788058" y="3445814"/>
            <a:ext cx="3000795" cy="1957661"/>
          </a:xfrm>
          <a:prstGeom prst="rect">
            <a:avLst/>
          </a:prstGeom>
        </p:spPr>
      </p:pic>
      <p:pic>
        <p:nvPicPr>
          <p:cNvPr id="12" name="Picture 11" descr="A screenshot of a computer&#10;&#10;AI-generated content may be incorrect.">
            <a:extLst>
              <a:ext uri="{FF2B5EF4-FFF2-40B4-BE49-F238E27FC236}">
                <a16:creationId xmlns:a16="http://schemas.microsoft.com/office/drawing/2014/main" id="{04CA8F39-C797-EAC7-82CE-F152FB63329B}"/>
              </a:ext>
            </a:extLst>
          </p:cNvPr>
          <p:cNvPicPr>
            <a:picLocks noChangeAspect="1"/>
          </p:cNvPicPr>
          <p:nvPr/>
        </p:nvPicPr>
        <p:blipFill>
          <a:blip r:embed="rId5"/>
          <a:stretch>
            <a:fillRect/>
          </a:stretch>
        </p:blipFill>
        <p:spPr>
          <a:xfrm>
            <a:off x="8788853" y="3445814"/>
            <a:ext cx="2740128" cy="1955170"/>
          </a:xfrm>
          <a:prstGeom prst="rect">
            <a:avLst/>
          </a:prstGeom>
        </p:spPr>
      </p:pic>
      <p:pic>
        <p:nvPicPr>
          <p:cNvPr id="17" name="Picture 16" descr="A screenshot of a computer program&#10;&#10;AI-generated content may be incorrect.">
            <a:extLst>
              <a:ext uri="{FF2B5EF4-FFF2-40B4-BE49-F238E27FC236}">
                <a16:creationId xmlns:a16="http://schemas.microsoft.com/office/drawing/2014/main" id="{B04A05E0-9633-0053-2AD9-69CCADE0E2D0}"/>
              </a:ext>
            </a:extLst>
          </p:cNvPr>
          <p:cNvPicPr>
            <a:picLocks noChangeAspect="1"/>
          </p:cNvPicPr>
          <p:nvPr/>
        </p:nvPicPr>
        <p:blipFill>
          <a:blip r:embed="rId6"/>
          <a:stretch>
            <a:fillRect/>
          </a:stretch>
        </p:blipFill>
        <p:spPr>
          <a:xfrm>
            <a:off x="5788058" y="5395417"/>
            <a:ext cx="4364610" cy="1071543"/>
          </a:xfrm>
          <a:prstGeom prst="rect">
            <a:avLst/>
          </a:prstGeom>
        </p:spPr>
      </p:pic>
      <p:sp>
        <p:nvSpPr>
          <p:cNvPr id="5" name="Rectangle 4">
            <a:extLst>
              <a:ext uri="{FF2B5EF4-FFF2-40B4-BE49-F238E27FC236}">
                <a16:creationId xmlns:a16="http://schemas.microsoft.com/office/drawing/2014/main" id="{884D4057-2238-DDDA-1981-CD76C66CA81E}"/>
              </a:ext>
            </a:extLst>
          </p:cNvPr>
          <p:cNvSpPr/>
          <p:nvPr/>
        </p:nvSpPr>
        <p:spPr>
          <a:xfrm>
            <a:off x="0" y="0"/>
            <a:ext cx="172720" cy="6858000"/>
          </a:xfrm>
          <a:prstGeom prst="rect">
            <a:avLst/>
          </a:prstGeom>
          <a:gradFill flip="none" rotWithShape="1">
            <a:gsLst>
              <a:gs pos="0">
                <a:srgbClr val="B0060F"/>
              </a:gs>
              <a:gs pos="53000">
                <a:srgbClr val="FF0000"/>
              </a:gs>
              <a:gs pos="100000">
                <a:schemeClr val="tx1"/>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1" name="Title 1">
            <a:extLst>
              <a:ext uri="{FF2B5EF4-FFF2-40B4-BE49-F238E27FC236}">
                <a16:creationId xmlns:a16="http://schemas.microsoft.com/office/drawing/2014/main" id="{AA728517-D12E-33F0-4AB2-12D426E55230}"/>
              </a:ext>
            </a:extLst>
          </p:cNvPr>
          <p:cNvSpPr txBox="1">
            <a:spLocks/>
          </p:cNvSpPr>
          <p:nvPr/>
        </p:nvSpPr>
        <p:spPr>
          <a:xfrm>
            <a:off x="426720" y="471557"/>
            <a:ext cx="10515600" cy="94212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400" b="1" dirty="0">
                <a:solidFill>
                  <a:srgbClr val="C00000"/>
                </a:solidFill>
                <a:latin typeface="Arial" panose="020B0604020202020204" pitchFamily="34" charset="0"/>
                <a:cs typeface="Arial" panose="020B0604020202020204" pitchFamily="34" charset="0"/>
              </a:rPr>
              <a:t>Critical Thinking, Explainability, Ethical AI, Bias Auditing, and Conclusion</a:t>
            </a:r>
            <a:endParaRPr lang="en-PH" sz="3400" b="1" dirty="0">
              <a:solidFill>
                <a:srgbClr val="C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757126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955CCC-C25B-DF3A-E1F6-37F6D0B54CD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80FAB3-11E8-6442-B83A-F42B9AEF37D6}"/>
              </a:ext>
            </a:extLst>
          </p:cNvPr>
          <p:cNvSpPr>
            <a:spLocks noGrp="1"/>
          </p:cNvSpPr>
          <p:nvPr>
            <p:ph idx="1"/>
          </p:nvPr>
        </p:nvSpPr>
        <p:spPr>
          <a:xfrm>
            <a:off x="426720" y="1611982"/>
            <a:ext cx="6011787" cy="5078855"/>
          </a:xfrm>
        </p:spPr>
        <p:txBody>
          <a:bodyPr>
            <a:noAutofit/>
          </a:bodyPr>
          <a:lstStyle/>
          <a:p>
            <a:r>
              <a:rPr lang="en-US" sz="1200" b="1" dirty="0">
                <a:latin typeface="Arial" panose="020B0604020202020204" pitchFamily="34" charset="0"/>
                <a:cs typeface="Arial" panose="020B0604020202020204" pitchFamily="34" charset="0"/>
              </a:rPr>
              <a:t>Mitigation &amp; Fairness:</a:t>
            </a:r>
          </a:p>
          <a:p>
            <a:pPr lvl="1"/>
            <a:r>
              <a:rPr lang="en-US" sz="1200" dirty="0">
                <a:latin typeface="Arial" panose="020B0604020202020204" pitchFamily="34" charset="0"/>
                <a:cs typeface="Arial" panose="020B0604020202020204" pitchFamily="34" charset="0"/>
              </a:rPr>
              <a:t>ILD, balanced feature weighting, and coverage-aware selection applied</a:t>
            </a:r>
          </a:p>
          <a:p>
            <a:pPr lvl="1"/>
            <a:r>
              <a:rPr lang="en-US" sz="1200" dirty="0">
                <a:latin typeface="Arial" panose="020B0604020202020204" pitchFamily="34" charset="0"/>
                <a:cs typeface="Arial" panose="020B0604020202020204" pitchFamily="34" charset="0"/>
              </a:rPr>
              <a:t>No user data or predictions used; fairness evaluated through content exposure and diversity.</a:t>
            </a:r>
          </a:p>
          <a:p>
            <a:r>
              <a:rPr lang="en-US" sz="1200" b="1" dirty="0">
                <a:latin typeface="Arial" panose="020B0604020202020204" pitchFamily="34" charset="0"/>
                <a:cs typeface="Arial" panose="020B0604020202020204" pitchFamily="34" charset="0"/>
              </a:rPr>
              <a:t>Limitations</a:t>
            </a:r>
          </a:p>
          <a:p>
            <a:pPr lvl="1"/>
            <a:r>
              <a:rPr lang="en-US" sz="1200" dirty="0">
                <a:latin typeface="Arial" panose="020B0604020202020204" pitchFamily="34" charset="0"/>
                <a:cs typeface="Arial" panose="020B0604020202020204" pitchFamily="34" charset="0"/>
              </a:rPr>
              <a:t>Catalog imbalance may persist, similarity uses the full catalog, and performance depends on metadata quality for new titles—explicitly stated to support responsible use.</a:t>
            </a:r>
          </a:p>
          <a:p>
            <a:r>
              <a:rPr lang="en-US" sz="1200" b="1" dirty="0">
                <a:latin typeface="Arial" panose="020B0604020202020204" pitchFamily="34" charset="0"/>
                <a:cs typeface="Arial" panose="020B0604020202020204" pitchFamily="34" charset="0"/>
              </a:rPr>
              <a:t>Technical Outcome</a:t>
            </a:r>
          </a:p>
          <a:p>
            <a:pPr lvl="1"/>
            <a:r>
              <a:rPr lang="en-US" sz="1200" dirty="0">
                <a:latin typeface="Arial" panose="020B0604020202020204" pitchFamily="34" charset="0"/>
                <a:cs typeface="Arial" panose="020B0604020202020204" pitchFamily="34" charset="0"/>
              </a:rPr>
              <a:t>Progresses from explainable baselines to semantic similarity modeling</a:t>
            </a:r>
          </a:p>
          <a:p>
            <a:pPr lvl="1"/>
            <a:r>
              <a:rPr lang="en-US" sz="1200" dirty="0">
                <a:latin typeface="Arial" panose="020B0604020202020204" pitchFamily="34" charset="0"/>
                <a:cs typeface="Arial" panose="020B0604020202020204" pitchFamily="34" charset="0"/>
              </a:rPr>
              <a:t>Stable, interpretable behavior confirmed via evaluation, explainability, and bias audits</a:t>
            </a:r>
          </a:p>
          <a:p>
            <a:r>
              <a:rPr lang="en-US" sz="1200" b="1" dirty="0">
                <a:latin typeface="Arial" panose="020B0604020202020204" pitchFamily="34" charset="0"/>
                <a:cs typeface="Arial" panose="020B0604020202020204" pitchFamily="34" charset="0"/>
              </a:rPr>
              <a:t>Business Impact</a:t>
            </a:r>
          </a:p>
          <a:p>
            <a:pPr lvl="1"/>
            <a:r>
              <a:rPr lang="en-US" sz="1200" dirty="0">
                <a:latin typeface="Arial" panose="020B0604020202020204" pitchFamily="34" charset="0"/>
                <a:cs typeface="Arial" panose="020B0604020202020204" pitchFamily="34" charset="0"/>
              </a:rPr>
              <a:t>Improves discovery for new and infrequent viewers</a:t>
            </a:r>
          </a:p>
          <a:p>
            <a:pPr lvl="1"/>
            <a:r>
              <a:rPr lang="en-US" sz="1200" dirty="0">
                <a:latin typeface="Arial" panose="020B0604020202020204" pitchFamily="34" charset="0"/>
                <a:cs typeface="Arial" panose="020B0604020202020204" pitchFamily="34" charset="0"/>
              </a:rPr>
              <a:t>Reduces browsing time while avoiding over-exposure to popular titles</a:t>
            </a:r>
          </a:p>
          <a:p>
            <a:r>
              <a:rPr lang="en-US" sz="1200" b="1" dirty="0">
                <a:latin typeface="Arial" panose="020B0604020202020204" pitchFamily="34" charset="0"/>
                <a:cs typeface="Arial" panose="020B0604020202020204" pitchFamily="34" charset="0"/>
              </a:rPr>
              <a:t>Ethical Implications for Netflix:</a:t>
            </a:r>
          </a:p>
          <a:p>
            <a:pPr lvl="1"/>
            <a:r>
              <a:rPr lang="en-US" sz="1200" dirty="0">
                <a:latin typeface="Arial" panose="020B0604020202020204" pitchFamily="34" charset="0"/>
                <a:cs typeface="Arial" panose="020B0604020202020204" pitchFamily="34" charset="0"/>
              </a:rPr>
              <a:t>Transparent, auditable recommendations</a:t>
            </a:r>
          </a:p>
          <a:p>
            <a:pPr lvl="1"/>
            <a:r>
              <a:rPr lang="en-US" sz="1200" dirty="0">
                <a:latin typeface="Arial" panose="020B0604020202020204" pitchFamily="34" charset="0"/>
                <a:cs typeface="Arial" panose="020B0604020202020204" pitchFamily="34" charset="0"/>
              </a:rPr>
              <a:t>Reduced popularity and regional bias without user profiling</a:t>
            </a:r>
          </a:p>
          <a:p>
            <a:pPr lvl="1"/>
            <a:r>
              <a:rPr lang="en-US" sz="1200" dirty="0">
                <a:latin typeface="Arial" panose="020B0604020202020204" pitchFamily="34" charset="0"/>
                <a:cs typeface="Arial" panose="020B0604020202020204" pitchFamily="34" charset="0"/>
              </a:rPr>
              <a:t>Low regulatory risk; suitable for cold-start deployment.</a:t>
            </a:r>
          </a:p>
          <a:p>
            <a:r>
              <a:rPr lang="en-US" sz="1200" b="1" dirty="0">
                <a:latin typeface="Arial" panose="020B0604020202020204" pitchFamily="34" charset="0"/>
                <a:cs typeface="Arial" panose="020B0604020202020204" pitchFamily="34" charset="0"/>
              </a:rPr>
              <a:t>Future Readiness:</a:t>
            </a:r>
          </a:p>
          <a:p>
            <a:pPr lvl="1"/>
            <a:r>
              <a:rPr lang="en-US" sz="1200" dirty="0">
                <a:latin typeface="Arial" panose="020B0604020202020204" pitchFamily="34" charset="0"/>
                <a:cs typeface="Arial" panose="020B0604020202020204" pitchFamily="34" charset="0"/>
              </a:rPr>
              <a:t>Scalable foundation for hybrid and personalized recommenders aligned with governance and ethical AI requirements.</a:t>
            </a:r>
          </a:p>
        </p:txBody>
      </p:sp>
      <p:grpSp>
        <p:nvGrpSpPr>
          <p:cNvPr id="21" name="Group 20">
            <a:extLst>
              <a:ext uri="{FF2B5EF4-FFF2-40B4-BE49-F238E27FC236}">
                <a16:creationId xmlns:a16="http://schemas.microsoft.com/office/drawing/2014/main" id="{F57E453C-A9AF-F3BE-78CD-252ED38A9389}"/>
              </a:ext>
            </a:extLst>
          </p:cNvPr>
          <p:cNvGrpSpPr/>
          <p:nvPr/>
        </p:nvGrpSpPr>
        <p:grpSpPr>
          <a:xfrm>
            <a:off x="6520291" y="1611982"/>
            <a:ext cx="5244989" cy="2658360"/>
            <a:chOff x="6096000" y="2630078"/>
            <a:chExt cx="5244989" cy="2658360"/>
          </a:xfrm>
        </p:grpSpPr>
        <p:pic>
          <p:nvPicPr>
            <p:cNvPr id="15" name="Picture 14" descr="A screenshot of a computer&#10;&#10;AI-generated content may be incorrect.">
              <a:extLst>
                <a:ext uri="{FF2B5EF4-FFF2-40B4-BE49-F238E27FC236}">
                  <a16:creationId xmlns:a16="http://schemas.microsoft.com/office/drawing/2014/main" id="{7824D5E0-7595-33D5-033B-22537B43BEA4}"/>
                </a:ext>
              </a:extLst>
            </p:cNvPr>
            <p:cNvPicPr>
              <a:picLocks noChangeAspect="1"/>
            </p:cNvPicPr>
            <p:nvPr/>
          </p:nvPicPr>
          <p:blipFill>
            <a:blip r:embed="rId2"/>
            <a:stretch>
              <a:fillRect/>
            </a:stretch>
          </p:blipFill>
          <p:spPr>
            <a:xfrm>
              <a:off x="6096000" y="3756638"/>
              <a:ext cx="5244989" cy="1531800"/>
            </a:xfrm>
            <a:prstGeom prst="rect">
              <a:avLst/>
            </a:prstGeom>
          </p:spPr>
        </p:pic>
        <p:pic>
          <p:nvPicPr>
            <p:cNvPr id="18" name="Picture 17" descr="A screenshot of a computer program&#10;&#10;AI-generated content may be incorrect.">
              <a:extLst>
                <a:ext uri="{FF2B5EF4-FFF2-40B4-BE49-F238E27FC236}">
                  <a16:creationId xmlns:a16="http://schemas.microsoft.com/office/drawing/2014/main" id="{35F36980-3348-31C1-FD92-06B71D4E5AD3}"/>
                </a:ext>
              </a:extLst>
            </p:cNvPr>
            <p:cNvPicPr>
              <a:picLocks noChangeAspect="1"/>
            </p:cNvPicPr>
            <p:nvPr/>
          </p:nvPicPr>
          <p:blipFill>
            <a:blip r:embed="rId3"/>
            <a:stretch>
              <a:fillRect/>
            </a:stretch>
          </p:blipFill>
          <p:spPr>
            <a:xfrm>
              <a:off x="6096000" y="2630079"/>
              <a:ext cx="2528756" cy="1126559"/>
            </a:xfrm>
            <a:prstGeom prst="rect">
              <a:avLst/>
            </a:prstGeom>
          </p:spPr>
        </p:pic>
        <p:pic>
          <p:nvPicPr>
            <p:cNvPr id="19" name="Picture 18" descr="A screenshot of a computer screen&#10;&#10;AI-generated content may be incorrect.">
              <a:extLst>
                <a:ext uri="{FF2B5EF4-FFF2-40B4-BE49-F238E27FC236}">
                  <a16:creationId xmlns:a16="http://schemas.microsoft.com/office/drawing/2014/main" id="{F64E6434-B37C-A61F-B5C5-5CF8AA7AB85E}"/>
                </a:ext>
              </a:extLst>
            </p:cNvPr>
            <p:cNvPicPr>
              <a:picLocks noChangeAspect="1"/>
            </p:cNvPicPr>
            <p:nvPr/>
          </p:nvPicPr>
          <p:blipFill>
            <a:blip r:embed="rId4"/>
            <a:stretch>
              <a:fillRect/>
            </a:stretch>
          </p:blipFill>
          <p:spPr>
            <a:xfrm>
              <a:off x="8624756" y="2630078"/>
              <a:ext cx="2716233" cy="1126559"/>
            </a:xfrm>
            <a:prstGeom prst="rect">
              <a:avLst/>
            </a:prstGeom>
          </p:spPr>
        </p:pic>
      </p:grpSp>
      <p:sp>
        <p:nvSpPr>
          <p:cNvPr id="4" name="Rectangle 3">
            <a:extLst>
              <a:ext uri="{FF2B5EF4-FFF2-40B4-BE49-F238E27FC236}">
                <a16:creationId xmlns:a16="http://schemas.microsoft.com/office/drawing/2014/main" id="{6DF6F8F8-9911-0969-0F1B-6C0A2CD708F4}"/>
              </a:ext>
            </a:extLst>
          </p:cNvPr>
          <p:cNvSpPr/>
          <p:nvPr/>
        </p:nvSpPr>
        <p:spPr>
          <a:xfrm>
            <a:off x="0" y="0"/>
            <a:ext cx="172720" cy="6858000"/>
          </a:xfrm>
          <a:prstGeom prst="rect">
            <a:avLst/>
          </a:prstGeom>
          <a:gradFill flip="none" rotWithShape="1">
            <a:gsLst>
              <a:gs pos="0">
                <a:srgbClr val="B0060F"/>
              </a:gs>
              <a:gs pos="53000">
                <a:srgbClr val="FF0000"/>
              </a:gs>
              <a:gs pos="100000">
                <a:schemeClr val="tx1"/>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6" name="Title 1">
            <a:extLst>
              <a:ext uri="{FF2B5EF4-FFF2-40B4-BE49-F238E27FC236}">
                <a16:creationId xmlns:a16="http://schemas.microsoft.com/office/drawing/2014/main" id="{F00CD93B-F3D4-A074-AE8D-C30A0BF5E1A7}"/>
              </a:ext>
            </a:extLst>
          </p:cNvPr>
          <p:cNvSpPr txBox="1">
            <a:spLocks/>
          </p:cNvSpPr>
          <p:nvPr/>
        </p:nvSpPr>
        <p:spPr>
          <a:xfrm>
            <a:off x="426720" y="471557"/>
            <a:ext cx="10515600" cy="94212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400" b="1" dirty="0">
                <a:solidFill>
                  <a:srgbClr val="C00000"/>
                </a:solidFill>
                <a:latin typeface="Arial" panose="020B0604020202020204" pitchFamily="34" charset="0"/>
                <a:cs typeface="Arial" panose="020B0604020202020204" pitchFamily="34" charset="0"/>
              </a:rPr>
              <a:t>Critical Thinking, Explainability, Ethical AI, Bias Auditing, and Conclusion</a:t>
            </a:r>
            <a:endParaRPr lang="en-PH" sz="3400" b="1" dirty="0">
              <a:solidFill>
                <a:srgbClr val="C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438308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346</TotalTime>
  <Words>1571</Words>
  <Application>Microsoft Office PowerPoint</Application>
  <PresentationFormat>Widescreen</PresentationFormat>
  <Paragraphs>136</Paragraphs>
  <Slides>12</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Aptos Display</vt:lpstr>
      <vt:lpstr>Arial</vt:lpstr>
      <vt:lpstr>Impact</vt:lpstr>
      <vt:lpstr>Office Theme</vt:lpstr>
      <vt:lpstr>Capstone: Netflix Content-Based Recommender System Technical Presentation</vt:lpstr>
      <vt:lpstr>Business Problem and Machine Learning Task Type</vt:lpstr>
      <vt:lpstr>Success Metrics (KPIs)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Marvin Ford</dc:creator>
  <cp:lastModifiedBy>Marvin Ford</cp:lastModifiedBy>
  <cp:revision>13</cp:revision>
  <dcterms:created xsi:type="dcterms:W3CDTF">2025-12-22T16:11:00Z</dcterms:created>
  <dcterms:modified xsi:type="dcterms:W3CDTF">2025-12-24T18:44:51Z</dcterms:modified>
</cp:coreProperties>
</file>