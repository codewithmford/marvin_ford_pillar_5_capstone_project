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3" r:id="rId3"/>
    <p:sldId id="274" r:id="rId4"/>
    <p:sldId id="259" r:id="rId5"/>
    <p:sldId id="261" r:id="rId6"/>
    <p:sldId id="265" r:id="rId7"/>
    <p:sldId id="275" r:id="rId8"/>
    <p:sldId id="277" r:id="rId9"/>
    <p:sldId id="278" r:id="rId10"/>
    <p:sldId id="279"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060F"/>
    <a:srgbClr val="E509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8" autoAdjust="0"/>
    <p:restoredTop sz="94660"/>
  </p:normalViewPr>
  <p:slideViewPr>
    <p:cSldViewPr snapToGrid="0">
      <p:cViewPr varScale="1">
        <p:scale>
          <a:sx n="102" d="100"/>
          <a:sy n="102" d="100"/>
        </p:scale>
        <p:origin x="144" y="1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49E1D1-776A-4057-9D3B-A0EF3BB2CEF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PH"/>
        </a:p>
      </dgm:t>
    </dgm:pt>
    <dgm:pt modelId="{45C4D30E-7B96-4348-9413-63783952400B}">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Metadata</a:t>
          </a:r>
          <a:endParaRPr lang="en-PH" dirty="0"/>
        </a:p>
      </dgm:t>
    </dgm:pt>
    <dgm:pt modelId="{247187EA-1B95-43E1-AED5-602EA5B0412C}" type="parTrans" cxnId="{79520BE2-48A2-40B7-9D3D-0FFDF32B2B7C}">
      <dgm:prSet/>
      <dgm:spPr/>
      <dgm:t>
        <a:bodyPr/>
        <a:lstStyle/>
        <a:p>
          <a:endParaRPr lang="en-PH"/>
        </a:p>
      </dgm:t>
    </dgm:pt>
    <dgm:pt modelId="{B28C6C04-8199-4802-BDC0-CF0CB635CC10}" type="sibTrans" cxnId="{79520BE2-48A2-40B7-9D3D-0FFDF32B2B7C}">
      <dgm:prSet/>
      <dgm:spPr/>
      <dgm:t>
        <a:bodyPr/>
        <a:lstStyle/>
        <a:p>
          <a:endParaRPr lang="en-PH" dirty="0"/>
        </a:p>
      </dgm:t>
    </dgm:pt>
    <dgm:pt modelId="{E0077B4B-E749-461C-BADB-DEA2E2100D88}">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Similarity Engine</a:t>
          </a:r>
          <a:endParaRPr lang="en-PH" dirty="0"/>
        </a:p>
      </dgm:t>
    </dgm:pt>
    <dgm:pt modelId="{FCC04186-7F8E-47AD-BB16-7CD1A1E10A5D}" type="parTrans" cxnId="{51491683-CF13-47E3-AF71-C2F436605E64}">
      <dgm:prSet/>
      <dgm:spPr/>
      <dgm:t>
        <a:bodyPr/>
        <a:lstStyle/>
        <a:p>
          <a:endParaRPr lang="en-PH"/>
        </a:p>
      </dgm:t>
    </dgm:pt>
    <dgm:pt modelId="{F6D2BE71-E1BC-4881-B7C3-CE66D663BAA3}" type="sibTrans" cxnId="{51491683-CF13-47E3-AF71-C2F436605E64}">
      <dgm:prSet/>
      <dgm:spPr/>
      <dgm:t>
        <a:bodyPr/>
        <a:lstStyle/>
        <a:p>
          <a:endParaRPr lang="en-PH" dirty="0"/>
        </a:p>
      </dgm:t>
    </dgm:pt>
    <dgm:pt modelId="{DA3F51AE-0181-49E5-91F7-2BD6A42EFAA9}">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Recommendations</a:t>
          </a:r>
          <a:endParaRPr lang="en-PH" dirty="0"/>
        </a:p>
      </dgm:t>
    </dgm:pt>
    <dgm:pt modelId="{24041514-0CF5-4BEC-801C-8A164C360AAD}" type="parTrans" cxnId="{D33F931A-B32B-4E75-BE09-FC7FFA4303A8}">
      <dgm:prSet/>
      <dgm:spPr/>
      <dgm:t>
        <a:bodyPr/>
        <a:lstStyle/>
        <a:p>
          <a:endParaRPr lang="en-PH"/>
        </a:p>
      </dgm:t>
    </dgm:pt>
    <dgm:pt modelId="{597CBB23-487C-4FCA-8E8F-A9138AF229D1}" type="sibTrans" cxnId="{D33F931A-B32B-4E75-BE09-FC7FFA4303A8}">
      <dgm:prSet/>
      <dgm:spPr/>
      <dgm:t>
        <a:bodyPr/>
        <a:lstStyle/>
        <a:p>
          <a:endParaRPr lang="en-PH"/>
        </a:p>
      </dgm:t>
    </dgm:pt>
    <dgm:pt modelId="{73DDBB32-E90B-4BA4-B625-1837FBE3FF9F}" type="pres">
      <dgm:prSet presAssocID="{1049E1D1-776A-4057-9D3B-A0EF3BB2CEFF}" presName="Name0" presStyleCnt="0">
        <dgm:presLayoutVars>
          <dgm:dir/>
          <dgm:resizeHandles val="exact"/>
        </dgm:presLayoutVars>
      </dgm:prSet>
      <dgm:spPr/>
    </dgm:pt>
    <dgm:pt modelId="{E8ED6299-41FA-48E2-98CC-D0AA05F66130}" type="pres">
      <dgm:prSet presAssocID="{45C4D30E-7B96-4348-9413-63783952400B}" presName="node" presStyleLbl="node1" presStyleIdx="0" presStyleCnt="3">
        <dgm:presLayoutVars>
          <dgm:bulletEnabled val="1"/>
        </dgm:presLayoutVars>
      </dgm:prSet>
      <dgm:spPr/>
    </dgm:pt>
    <dgm:pt modelId="{A4C3195D-03A1-4907-9A71-DD21E2595266}" type="pres">
      <dgm:prSet presAssocID="{B28C6C04-8199-4802-BDC0-CF0CB635CC10}" presName="sibTrans" presStyleLbl="sibTrans2D1" presStyleIdx="0" presStyleCnt="2"/>
      <dgm:spPr/>
    </dgm:pt>
    <dgm:pt modelId="{0140A066-8A2F-45F9-92A4-65458E02FB06}" type="pres">
      <dgm:prSet presAssocID="{B28C6C04-8199-4802-BDC0-CF0CB635CC10}" presName="connectorText" presStyleLbl="sibTrans2D1" presStyleIdx="0" presStyleCnt="2"/>
      <dgm:spPr/>
    </dgm:pt>
    <dgm:pt modelId="{8D85B059-C31B-47A0-8EF4-F9A4DA592F70}" type="pres">
      <dgm:prSet presAssocID="{E0077B4B-E749-461C-BADB-DEA2E2100D88}" presName="node" presStyleLbl="node1" presStyleIdx="1" presStyleCnt="3">
        <dgm:presLayoutVars>
          <dgm:bulletEnabled val="1"/>
        </dgm:presLayoutVars>
      </dgm:prSet>
      <dgm:spPr/>
    </dgm:pt>
    <dgm:pt modelId="{A559115C-4799-41DC-8670-CD543A695283}" type="pres">
      <dgm:prSet presAssocID="{F6D2BE71-E1BC-4881-B7C3-CE66D663BAA3}" presName="sibTrans" presStyleLbl="sibTrans2D1" presStyleIdx="1" presStyleCnt="2"/>
      <dgm:spPr/>
    </dgm:pt>
    <dgm:pt modelId="{F1401506-11F0-4658-893B-97E4343CC7AE}" type="pres">
      <dgm:prSet presAssocID="{F6D2BE71-E1BC-4881-B7C3-CE66D663BAA3}" presName="connectorText" presStyleLbl="sibTrans2D1" presStyleIdx="1" presStyleCnt="2"/>
      <dgm:spPr/>
    </dgm:pt>
    <dgm:pt modelId="{4B5538B7-3E2E-436A-917C-08C64EB0AD60}" type="pres">
      <dgm:prSet presAssocID="{DA3F51AE-0181-49E5-91F7-2BD6A42EFAA9}" presName="node" presStyleLbl="node1" presStyleIdx="2" presStyleCnt="3">
        <dgm:presLayoutVars>
          <dgm:bulletEnabled val="1"/>
        </dgm:presLayoutVars>
      </dgm:prSet>
      <dgm:spPr/>
    </dgm:pt>
  </dgm:ptLst>
  <dgm:cxnLst>
    <dgm:cxn modelId="{CAB8C50C-0C72-4412-BD5C-7741EDEF5753}" type="presOf" srcId="{DA3F51AE-0181-49E5-91F7-2BD6A42EFAA9}" destId="{4B5538B7-3E2E-436A-917C-08C64EB0AD60}" srcOrd="0" destOrd="0" presId="urn:microsoft.com/office/officeart/2005/8/layout/process1"/>
    <dgm:cxn modelId="{73E62D17-462F-43B5-BB99-6F0BD1717C8F}" type="presOf" srcId="{F6D2BE71-E1BC-4881-B7C3-CE66D663BAA3}" destId="{A559115C-4799-41DC-8670-CD543A695283}" srcOrd="0" destOrd="0" presId="urn:microsoft.com/office/officeart/2005/8/layout/process1"/>
    <dgm:cxn modelId="{D33F931A-B32B-4E75-BE09-FC7FFA4303A8}" srcId="{1049E1D1-776A-4057-9D3B-A0EF3BB2CEFF}" destId="{DA3F51AE-0181-49E5-91F7-2BD6A42EFAA9}" srcOrd="2" destOrd="0" parTransId="{24041514-0CF5-4BEC-801C-8A164C360AAD}" sibTransId="{597CBB23-487C-4FCA-8E8F-A9138AF229D1}"/>
    <dgm:cxn modelId="{5C47061D-EE71-4980-ACF9-0354B0E199D1}" type="presOf" srcId="{1049E1D1-776A-4057-9D3B-A0EF3BB2CEFF}" destId="{73DDBB32-E90B-4BA4-B625-1837FBE3FF9F}" srcOrd="0" destOrd="0" presId="urn:microsoft.com/office/officeart/2005/8/layout/process1"/>
    <dgm:cxn modelId="{C26CF94B-DDEE-4CD9-B022-9DD112D05CCB}" type="presOf" srcId="{45C4D30E-7B96-4348-9413-63783952400B}" destId="{E8ED6299-41FA-48E2-98CC-D0AA05F66130}" srcOrd="0" destOrd="0" presId="urn:microsoft.com/office/officeart/2005/8/layout/process1"/>
    <dgm:cxn modelId="{51491683-CF13-47E3-AF71-C2F436605E64}" srcId="{1049E1D1-776A-4057-9D3B-A0EF3BB2CEFF}" destId="{E0077B4B-E749-461C-BADB-DEA2E2100D88}" srcOrd="1" destOrd="0" parTransId="{FCC04186-7F8E-47AD-BB16-7CD1A1E10A5D}" sibTransId="{F6D2BE71-E1BC-4881-B7C3-CE66D663BAA3}"/>
    <dgm:cxn modelId="{BA80429D-2407-4F14-A015-E2DA4F6E3894}" type="presOf" srcId="{E0077B4B-E749-461C-BADB-DEA2E2100D88}" destId="{8D85B059-C31B-47A0-8EF4-F9A4DA592F70}" srcOrd="0" destOrd="0" presId="urn:microsoft.com/office/officeart/2005/8/layout/process1"/>
    <dgm:cxn modelId="{A77051D4-7125-4017-BC29-DC6330F2F2B4}" type="presOf" srcId="{F6D2BE71-E1BC-4881-B7C3-CE66D663BAA3}" destId="{F1401506-11F0-4658-893B-97E4343CC7AE}" srcOrd="1" destOrd="0" presId="urn:microsoft.com/office/officeart/2005/8/layout/process1"/>
    <dgm:cxn modelId="{3B83B1D6-411D-4D36-8129-759C74E3D8F0}" type="presOf" srcId="{B28C6C04-8199-4802-BDC0-CF0CB635CC10}" destId="{A4C3195D-03A1-4907-9A71-DD21E2595266}" srcOrd="0" destOrd="0" presId="urn:microsoft.com/office/officeart/2005/8/layout/process1"/>
    <dgm:cxn modelId="{79520BE2-48A2-40B7-9D3D-0FFDF32B2B7C}" srcId="{1049E1D1-776A-4057-9D3B-A0EF3BB2CEFF}" destId="{45C4D30E-7B96-4348-9413-63783952400B}" srcOrd="0" destOrd="0" parTransId="{247187EA-1B95-43E1-AED5-602EA5B0412C}" sibTransId="{B28C6C04-8199-4802-BDC0-CF0CB635CC10}"/>
    <dgm:cxn modelId="{97CA70F6-AD91-4A65-9042-DC94630EF6AB}" type="presOf" srcId="{B28C6C04-8199-4802-BDC0-CF0CB635CC10}" destId="{0140A066-8A2F-45F9-92A4-65458E02FB06}" srcOrd="1" destOrd="0" presId="urn:microsoft.com/office/officeart/2005/8/layout/process1"/>
    <dgm:cxn modelId="{614B1A84-90F9-44BD-91EC-5B3DD23E5F85}" type="presParOf" srcId="{73DDBB32-E90B-4BA4-B625-1837FBE3FF9F}" destId="{E8ED6299-41FA-48E2-98CC-D0AA05F66130}" srcOrd="0" destOrd="0" presId="urn:microsoft.com/office/officeart/2005/8/layout/process1"/>
    <dgm:cxn modelId="{EB53042F-F401-4F8D-8A15-995C0D796BE7}" type="presParOf" srcId="{73DDBB32-E90B-4BA4-B625-1837FBE3FF9F}" destId="{A4C3195D-03A1-4907-9A71-DD21E2595266}" srcOrd="1" destOrd="0" presId="urn:microsoft.com/office/officeart/2005/8/layout/process1"/>
    <dgm:cxn modelId="{B160A3DC-E5B2-4727-A19E-B92C2A02322B}" type="presParOf" srcId="{A4C3195D-03A1-4907-9A71-DD21E2595266}" destId="{0140A066-8A2F-45F9-92A4-65458E02FB06}" srcOrd="0" destOrd="0" presId="urn:microsoft.com/office/officeart/2005/8/layout/process1"/>
    <dgm:cxn modelId="{4DFF4C40-DC75-49C4-A403-2621BCEC83B3}" type="presParOf" srcId="{73DDBB32-E90B-4BA4-B625-1837FBE3FF9F}" destId="{8D85B059-C31B-47A0-8EF4-F9A4DA592F70}" srcOrd="2" destOrd="0" presId="urn:microsoft.com/office/officeart/2005/8/layout/process1"/>
    <dgm:cxn modelId="{101292DE-551A-44F5-8BEA-064106F6E2B5}" type="presParOf" srcId="{73DDBB32-E90B-4BA4-B625-1837FBE3FF9F}" destId="{A559115C-4799-41DC-8670-CD543A695283}" srcOrd="3" destOrd="0" presId="urn:microsoft.com/office/officeart/2005/8/layout/process1"/>
    <dgm:cxn modelId="{A7AF1381-94C7-4666-8EA6-D34EF76958F4}" type="presParOf" srcId="{A559115C-4799-41DC-8670-CD543A695283}" destId="{F1401506-11F0-4658-893B-97E4343CC7AE}" srcOrd="0" destOrd="0" presId="urn:microsoft.com/office/officeart/2005/8/layout/process1"/>
    <dgm:cxn modelId="{F33660A1-90DA-4034-8EF0-C4EA7306F29B}" type="presParOf" srcId="{73DDBB32-E90B-4BA4-B625-1837FBE3FF9F}" destId="{4B5538B7-3E2E-436A-917C-08C64EB0AD6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D6299-41FA-48E2-98CC-D0AA05F66130}">
      <dsp:nvSpPr>
        <dsp:cNvPr id="0" name=""/>
        <dsp:cNvSpPr/>
      </dsp:nvSpPr>
      <dsp:spPr>
        <a:xfrm>
          <a:off x="4079"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Metadata</a:t>
          </a:r>
          <a:endParaRPr lang="en-PH" sz="1000" kern="1200" dirty="0"/>
        </a:p>
      </dsp:txBody>
      <dsp:txXfrm>
        <a:off x="25508" y="1060763"/>
        <a:ext cx="1176551" cy="688787"/>
      </dsp:txXfrm>
    </dsp:sp>
    <dsp:sp modelId="{A4C3195D-03A1-4907-9A71-DD21E2595266}">
      <dsp:nvSpPr>
        <dsp:cNvPr id="0" name=""/>
        <dsp:cNvSpPr/>
      </dsp:nvSpPr>
      <dsp:spPr>
        <a:xfrm>
          <a:off x="1345430" y="1253950"/>
          <a:ext cx="258514" cy="3024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H" sz="800" kern="1200" dirty="0"/>
        </a:p>
      </dsp:txBody>
      <dsp:txXfrm>
        <a:off x="1345430" y="1314433"/>
        <a:ext cx="180960" cy="181447"/>
      </dsp:txXfrm>
    </dsp:sp>
    <dsp:sp modelId="{8D85B059-C31B-47A0-8EF4-F9A4DA592F70}">
      <dsp:nvSpPr>
        <dsp:cNvPr id="0" name=""/>
        <dsp:cNvSpPr/>
      </dsp:nvSpPr>
      <dsp:spPr>
        <a:xfrm>
          <a:off x="1711252"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Similarity Engine</a:t>
          </a:r>
          <a:endParaRPr lang="en-PH" sz="1000" kern="1200" dirty="0"/>
        </a:p>
      </dsp:txBody>
      <dsp:txXfrm>
        <a:off x="1732681" y="1060763"/>
        <a:ext cx="1176551" cy="688787"/>
      </dsp:txXfrm>
    </dsp:sp>
    <dsp:sp modelId="{A559115C-4799-41DC-8670-CD543A695283}">
      <dsp:nvSpPr>
        <dsp:cNvPr id="0" name=""/>
        <dsp:cNvSpPr/>
      </dsp:nvSpPr>
      <dsp:spPr>
        <a:xfrm>
          <a:off x="3052603" y="1253950"/>
          <a:ext cx="258514" cy="3024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H" sz="800" kern="1200" dirty="0"/>
        </a:p>
      </dsp:txBody>
      <dsp:txXfrm>
        <a:off x="3052603" y="1314433"/>
        <a:ext cx="180960" cy="181447"/>
      </dsp:txXfrm>
    </dsp:sp>
    <dsp:sp modelId="{4B5538B7-3E2E-436A-917C-08C64EB0AD60}">
      <dsp:nvSpPr>
        <dsp:cNvPr id="0" name=""/>
        <dsp:cNvSpPr/>
      </dsp:nvSpPr>
      <dsp:spPr>
        <a:xfrm>
          <a:off x="3418425"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Recommendations</a:t>
          </a:r>
          <a:endParaRPr lang="en-PH" sz="1000" kern="1200" dirty="0"/>
        </a:p>
      </dsp:txBody>
      <dsp:txXfrm>
        <a:off x="3439854" y="1060763"/>
        <a:ext cx="1176551" cy="68878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A8645-B4E9-43F4-8F5D-F836FED09CF3}" type="datetimeFigureOut">
              <a:rPr lang="en-PH" smtClean="0"/>
              <a:t>25/12/2025</a:t>
            </a:fld>
            <a:endParaRPr lang="en-PH"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9B1F08-FDB6-4F28-BFBC-0873D97F9586}" type="slidenum">
              <a:rPr lang="en-PH" smtClean="0"/>
              <a:t>‹#›</a:t>
            </a:fld>
            <a:endParaRPr lang="en-PH" dirty="0"/>
          </a:p>
        </p:txBody>
      </p:sp>
    </p:spTree>
    <p:extLst>
      <p:ext uri="{BB962C8B-B14F-4D97-AF65-F5344CB8AC3E}">
        <p14:creationId xmlns:p14="http://schemas.microsoft.com/office/powerpoint/2010/main" val="1262960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 https://www.kaggle.com/datasets/shivamb/netflix-shows</a:t>
            </a:r>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4</a:t>
            </a:fld>
            <a:endParaRPr lang="en-PH" dirty="0"/>
          </a:p>
        </p:txBody>
      </p:sp>
    </p:spTree>
    <p:extLst>
      <p:ext uri="{BB962C8B-B14F-4D97-AF65-F5344CB8AC3E}">
        <p14:creationId xmlns:p14="http://schemas.microsoft.com/office/powerpoint/2010/main" val="2876166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DE56-C13A-B3E4-9F4A-6309965D8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A88D050E-CC2B-E10D-D798-11D76D2001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BF94C5BD-956D-1A2E-E0DF-B3C12909B4F5}"/>
              </a:ext>
            </a:extLst>
          </p:cNvPr>
          <p:cNvSpPr>
            <a:spLocks noGrp="1"/>
          </p:cNvSpPr>
          <p:nvPr>
            <p:ph type="dt" sz="half" idx="10"/>
          </p:nvPr>
        </p:nvSpPr>
        <p:spPr/>
        <p:txBody>
          <a:bodyPr/>
          <a:lstStyle/>
          <a:p>
            <a:fld id="{AA07CEAF-65A9-4C48-8EC9-638AE3CE9E6C}" type="datetime1">
              <a:rPr lang="en-PH" smtClean="0"/>
              <a:t>25/12/2025</a:t>
            </a:fld>
            <a:endParaRPr lang="en-PH" dirty="0"/>
          </a:p>
        </p:txBody>
      </p:sp>
      <p:sp>
        <p:nvSpPr>
          <p:cNvPr id="5" name="Footer Placeholder 4">
            <a:extLst>
              <a:ext uri="{FF2B5EF4-FFF2-40B4-BE49-F238E27FC236}">
                <a16:creationId xmlns:a16="http://schemas.microsoft.com/office/drawing/2014/main" id="{EBE8093C-2144-B26D-14BE-C8DD346056D0}"/>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0D730C2D-B362-5522-6F3F-C5E300DF6E0F}"/>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26352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B1BC-A5E5-4A06-E729-2226A814D35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BF3302B0-100D-3226-29F5-C2C5B05AD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F33C432-F514-93F7-A32D-788A8E4E5F2A}"/>
              </a:ext>
            </a:extLst>
          </p:cNvPr>
          <p:cNvSpPr>
            <a:spLocks noGrp="1"/>
          </p:cNvSpPr>
          <p:nvPr>
            <p:ph type="dt" sz="half" idx="10"/>
          </p:nvPr>
        </p:nvSpPr>
        <p:spPr/>
        <p:txBody>
          <a:bodyPr/>
          <a:lstStyle/>
          <a:p>
            <a:fld id="{2F6EF923-8EC8-45BC-8BCA-D56C6059B38C}" type="datetime1">
              <a:rPr lang="en-PH" smtClean="0"/>
              <a:t>25/12/2025</a:t>
            </a:fld>
            <a:endParaRPr lang="en-PH" dirty="0"/>
          </a:p>
        </p:txBody>
      </p:sp>
      <p:sp>
        <p:nvSpPr>
          <p:cNvPr id="5" name="Footer Placeholder 4">
            <a:extLst>
              <a:ext uri="{FF2B5EF4-FFF2-40B4-BE49-F238E27FC236}">
                <a16:creationId xmlns:a16="http://schemas.microsoft.com/office/drawing/2014/main" id="{668F1E46-A651-00A7-61D8-767E8AE0F02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E694DD2E-C869-0CCD-256F-2558D3636BC0}"/>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3588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51EB7-7C4E-1280-9105-4394870F1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0613446-770F-2A27-6E94-4491AA078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95640-4139-07E5-67E0-56C750E08428}"/>
              </a:ext>
            </a:extLst>
          </p:cNvPr>
          <p:cNvSpPr>
            <a:spLocks noGrp="1"/>
          </p:cNvSpPr>
          <p:nvPr>
            <p:ph type="dt" sz="half" idx="10"/>
          </p:nvPr>
        </p:nvSpPr>
        <p:spPr/>
        <p:txBody>
          <a:bodyPr/>
          <a:lstStyle/>
          <a:p>
            <a:fld id="{8C0C07EE-5DF3-43A9-9BFB-BE6B7C821434}" type="datetime1">
              <a:rPr lang="en-PH" smtClean="0"/>
              <a:t>25/12/2025</a:t>
            </a:fld>
            <a:endParaRPr lang="en-PH" dirty="0"/>
          </a:p>
        </p:txBody>
      </p:sp>
      <p:sp>
        <p:nvSpPr>
          <p:cNvPr id="5" name="Footer Placeholder 4">
            <a:extLst>
              <a:ext uri="{FF2B5EF4-FFF2-40B4-BE49-F238E27FC236}">
                <a16:creationId xmlns:a16="http://schemas.microsoft.com/office/drawing/2014/main" id="{D72E0C80-0966-C846-DF8E-5F2CC0B94924}"/>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93C628C-0D73-C202-EBD4-FA392A4050E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425646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8638-F9A8-946F-675B-2ECBFF73FED8}"/>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DB5E59E-C5A1-1AC4-4389-4A2F6E629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61CE8885-EB48-1D1C-CF79-64CFD625AF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C60A99F-ABA5-3B48-7A39-A2BF5DF5A880}"/>
              </a:ext>
            </a:extLst>
          </p:cNvPr>
          <p:cNvSpPr>
            <a:spLocks noGrp="1"/>
          </p:cNvSpPr>
          <p:nvPr>
            <p:ph type="dt" sz="half" idx="10"/>
          </p:nvPr>
        </p:nvSpPr>
        <p:spPr/>
        <p:txBody>
          <a:bodyPr/>
          <a:lstStyle/>
          <a:p>
            <a:fld id="{350F4282-576F-4BB2-BD70-9C06117146B8}" type="datetime1">
              <a:rPr lang="en-PH" smtClean="0"/>
              <a:t>25/12/2025</a:t>
            </a:fld>
            <a:endParaRPr lang="en-PH" dirty="0"/>
          </a:p>
        </p:txBody>
      </p:sp>
      <p:sp>
        <p:nvSpPr>
          <p:cNvPr id="6" name="Footer Placeholder 5">
            <a:extLst>
              <a:ext uri="{FF2B5EF4-FFF2-40B4-BE49-F238E27FC236}">
                <a16:creationId xmlns:a16="http://schemas.microsoft.com/office/drawing/2014/main" id="{7CCB413E-EE7A-496A-E402-448B0FDD121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584754F0-FE4A-F864-74A6-1D22E20DBC0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5431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B1DD-A0F5-9C9B-3005-405F53214A4A}"/>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438F1057-5C68-2857-335B-A0A83C0BC6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2C613D-6B69-3F2C-E1C6-37FEDBDDBB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BBA8568D-8C83-69B6-D964-A899073E7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26AAAB-44A7-D543-0C20-A5DEBCDE4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5D4BFDFB-D401-984E-B5CB-39A54E7B8FE3}"/>
              </a:ext>
            </a:extLst>
          </p:cNvPr>
          <p:cNvSpPr>
            <a:spLocks noGrp="1"/>
          </p:cNvSpPr>
          <p:nvPr>
            <p:ph type="dt" sz="half" idx="10"/>
          </p:nvPr>
        </p:nvSpPr>
        <p:spPr/>
        <p:txBody>
          <a:bodyPr/>
          <a:lstStyle/>
          <a:p>
            <a:fld id="{B080A2C8-1BBB-4CAC-AF5D-7AB5F8839633}" type="datetime1">
              <a:rPr lang="en-PH" smtClean="0"/>
              <a:t>25/12/2025</a:t>
            </a:fld>
            <a:endParaRPr lang="en-PH" dirty="0"/>
          </a:p>
        </p:txBody>
      </p:sp>
      <p:sp>
        <p:nvSpPr>
          <p:cNvPr id="8" name="Footer Placeholder 7">
            <a:extLst>
              <a:ext uri="{FF2B5EF4-FFF2-40B4-BE49-F238E27FC236}">
                <a16:creationId xmlns:a16="http://schemas.microsoft.com/office/drawing/2014/main" id="{6E7FEB64-1254-2A00-40C9-BB50A143FE35}"/>
              </a:ext>
            </a:extLst>
          </p:cNvPr>
          <p:cNvSpPr>
            <a:spLocks noGrp="1"/>
          </p:cNvSpPr>
          <p:nvPr>
            <p:ph type="ftr" sz="quarter" idx="11"/>
          </p:nvPr>
        </p:nvSpPr>
        <p:spPr/>
        <p:txBody>
          <a:bodyPr/>
          <a:lstStyle/>
          <a:p>
            <a:endParaRPr lang="en-PH" dirty="0"/>
          </a:p>
        </p:txBody>
      </p:sp>
      <p:sp>
        <p:nvSpPr>
          <p:cNvPr id="9" name="Slide Number Placeholder 8">
            <a:extLst>
              <a:ext uri="{FF2B5EF4-FFF2-40B4-BE49-F238E27FC236}">
                <a16:creationId xmlns:a16="http://schemas.microsoft.com/office/drawing/2014/main" id="{97EA9A24-5759-6DB9-F257-724435C846C3}"/>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63794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2BE4-99C1-2706-4D31-B031D26BAAC2}"/>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173D09C-C3B7-FB9E-E322-4070F7A5BA6C}"/>
              </a:ext>
            </a:extLst>
          </p:cNvPr>
          <p:cNvSpPr>
            <a:spLocks noGrp="1"/>
          </p:cNvSpPr>
          <p:nvPr>
            <p:ph type="dt" sz="half" idx="10"/>
          </p:nvPr>
        </p:nvSpPr>
        <p:spPr/>
        <p:txBody>
          <a:bodyPr/>
          <a:lstStyle/>
          <a:p>
            <a:fld id="{86BDEC49-C13C-490B-9297-A3B36F6110C1}" type="datetime1">
              <a:rPr lang="en-PH" smtClean="0"/>
              <a:t>25/12/2025</a:t>
            </a:fld>
            <a:endParaRPr lang="en-PH" dirty="0"/>
          </a:p>
        </p:txBody>
      </p:sp>
      <p:sp>
        <p:nvSpPr>
          <p:cNvPr id="4" name="Footer Placeholder 3">
            <a:extLst>
              <a:ext uri="{FF2B5EF4-FFF2-40B4-BE49-F238E27FC236}">
                <a16:creationId xmlns:a16="http://schemas.microsoft.com/office/drawing/2014/main" id="{625166A4-8151-9F4B-9C3B-7B5B11036DBC}"/>
              </a:ext>
            </a:extLst>
          </p:cNvPr>
          <p:cNvSpPr>
            <a:spLocks noGrp="1"/>
          </p:cNvSpPr>
          <p:nvPr>
            <p:ph type="ftr" sz="quarter" idx="11"/>
          </p:nvPr>
        </p:nvSpPr>
        <p:spPr/>
        <p:txBody>
          <a:bodyPr/>
          <a:lstStyle/>
          <a:p>
            <a:endParaRPr lang="en-PH" dirty="0"/>
          </a:p>
        </p:txBody>
      </p:sp>
      <p:sp>
        <p:nvSpPr>
          <p:cNvPr id="5" name="Slide Number Placeholder 4">
            <a:extLst>
              <a:ext uri="{FF2B5EF4-FFF2-40B4-BE49-F238E27FC236}">
                <a16:creationId xmlns:a16="http://schemas.microsoft.com/office/drawing/2014/main" id="{8CE0F241-0D42-8032-6A39-679E8CE4378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76990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DA477-07F5-8679-029D-001DFF9480F1}"/>
              </a:ext>
            </a:extLst>
          </p:cNvPr>
          <p:cNvSpPr>
            <a:spLocks noGrp="1"/>
          </p:cNvSpPr>
          <p:nvPr>
            <p:ph type="dt" sz="half" idx="10"/>
          </p:nvPr>
        </p:nvSpPr>
        <p:spPr/>
        <p:txBody>
          <a:bodyPr/>
          <a:lstStyle/>
          <a:p>
            <a:fld id="{98B85004-CA21-4072-8CFE-FE458226D833}" type="datetime1">
              <a:rPr lang="en-PH" smtClean="0"/>
              <a:t>25/12/2025</a:t>
            </a:fld>
            <a:endParaRPr lang="en-PH" dirty="0"/>
          </a:p>
        </p:txBody>
      </p:sp>
      <p:sp>
        <p:nvSpPr>
          <p:cNvPr id="3" name="Footer Placeholder 2">
            <a:extLst>
              <a:ext uri="{FF2B5EF4-FFF2-40B4-BE49-F238E27FC236}">
                <a16:creationId xmlns:a16="http://schemas.microsoft.com/office/drawing/2014/main" id="{36EBB002-7961-8CEC-08D0-23C2F751C384}"/>
              </a:ext>
            </a:extLst>
          </p:cNvPr>
          <p:cNvSpPr>
            <a:spLocks noGrp="1"/>
          </p:cNvSpPr>
          <p:nvPr>
            <p:ph type="ftr" sz="quarter" idx="11"/>
          </p:nvPr>
        </p:nvSpPr>
        <p:spPr/>
        <p:txBody>
          <a:bodyPr/>
          <a:lstStyle/>
          <a:p>
            <a:endParaRPr lang="en-PH" dirty="0"/>
          </a:p>
        </p:txBody>
      </p:sp>
      <p:sp>
        <p:nvSpPr>
          <p:cNvPr id="4" name="Slide Number Placeholder 3">
            <a:extLst>
              <a:ext uri="{FF2B5EF4-FFF2-40B4-BE49-F238E27FC236}">
                <a16:creationId xmlns:a16="http://schemas.microsoft.com/office/drawing/2014/main" id="{493657EC-067B-27D9-6CBA-5F50C043568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59210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46D3-3EE6-3F09-B758-FCC15FA29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B1755D61-3CC7-4C13-67EE-DE2444B63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724173E9-F394-536E-0E7A-553AC6208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B8B0D-8FBE-784A-7C99-F5895EB0022E}"/>
              </a:ext>
            </a:extLst>
          </p:cNvPr>
          <p:cNvSpPr>
            <a:spLocks noGrp="1"/>
          </p:cNvSpPr>
          <p:nvPr>
            <p:ph type="dt" sz="half" idx="10"/>
          </p:nvPr>
        </p:nvSpPr>
        <p:spPr/>
        <p:txBody>
          <a:bodyPr/>
          <a:lstStyle/>
          <a:p>
            <a:fld id="{7B4E8360-925F-4EA1-BDDA-567F4F9D24AA}" type="datetime1">
              <a:rPr lang="en-PH" smtClean="0"/>
              <a:t>25/12/2025</a:t>
            </a:fld>
            <a:endParaRPr lang="en-PH" dirty="0"/>
          </a:p>
        </p:txBody>
      </p:sp>
      <p:sp>
        <p:nvSpPr>
          <p:cNvPr id="6" name="Footer Placeholder 5">
            <a:extLst>
              <a:ext uri="{FF2B5EF4-FFF2-40B4-BE49-F238E27FC236}">
                <a16:creationId xmlns:a16="http://schemas.microsoft.com/office/drawing/2014/main" id="{00642A60-A93E-45B6-703C-2C1AC60F1F5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6D6CB9B8-8988-87B6-5179-F58C37AB4EC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99838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ABA2-4D2F-18A8-A53A-D8F61A4A0F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5C52596B-65B1-4535-EE05-0E6C57EF5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dirty="0"/>
          </a:p>
        </p:txBody>
      </p:sp>
      <p:sp>
        <p:nvSpPr>
          <p:cNvPr id="4" name="Text Placeholder 3">
            <a:extLst>
              <a:ext uri="{FF2B5EF4-FFF2-40B4-BE49-F238E27FC236}">
                <a16:creationId xmlns:a16="http://schemas.microsoft.com/office/drawing/2014/main" id="{8A795970-78AB-A1B4-201E-26FB7AACF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1F8901-F121-1AD0-B9E7-FB341DEEED0A}"/>
              </a:ext>
            </a:extLst>
          </p:cNvPr>
          <p:cNvSpPr>
            <a:spLocks noGrp="1"/>
          </p:cNvSpPr>
          <p:nvPr>
            <p:ph type="dt" sz="half" idx="10"/>
          </p:nvPr>
        </p:nvSpPr>
        <p:spPr/>
        <p:txBody>
          <a:bodyPr/>
          <a:lstStyle/>
          <a:p>
            <a:fld id="{578D601F-87E1-4203-81A1-40F65D59DEDE}" type="datetime1">
              <a:rPr lang="en-PH" smtClean="0"/>
              <a:t>25/12/2025</a:t>
            </a:fld>
            <a:endParaRPr lang="en-PH" dirty="0"/>
          </a:p>
        </p:txBody>
      </p:sp>
      <p:sp>
        <p:nvSpPr>
          <p:cNvPr id="6" name="Footer Placeholder 5">
            <a:extLst>
              <a:ext uri="{FF2B5EF4-FFF2-40B4-BE49-F238E27FC236}">
                <a16:creationId xmlns:a16="http://schemas.microsoft.com/office/drawing/2014/main" id="{6C5DFBE9-22E2-9E00-0196-BD753E9293EF}"/>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1E15AE6C-D83F-4ADA-2F12-868CF0468AB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4985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D6C5-C546-E93A-D3B4-3EA077288CB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5A02BD6-AF00-BCBE-5F1D-07C34A49DD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78FB95D-86AC-9AAD-89C4-E7E498692B2D}"/>
              </a:ext>
            </a:extLst>
          </p:cNvPr>
          <p:cNvSpPr>
            <a:spLocks noGrp="1"/>
          </p:cNvSpPr>
          <p:nvPr>
            <p:ph type="dt" sz="half" idx="10"/>
          </p:nvPr>
        </p:nvSpPr>
        <p:spPr/>
        <p:txBody>
          <a:bodyPr/>
          <a:lstStyle/>
          <a:p>
            <a:fld id="{D1938F6A-DD10-477F-8A50-A2A781EF0482}" type="datetime1">
              <a:rPr lang="en-PH" smtClean="0"/>
              <a:t>25/12/2025</a:t>
            </a:fld>
            <a:endParaRPr lang="en-PH" dirty="0"/>
          </a:p>
        </p:txBody>
      </p:sp>
      <p:sp>
        <p:nvSpPr>
          <p:cNvPr id="5" name="Footer Placeholder 4">
            <a:extLst>
              <a:ext uri="{FF2B5EF4-FFF2-40B4-BE49-F238E27FC236}">
                <a16:creationId xmlns:a16="http://schemas.microsoft.com/office/drawing/2014/main" id="{67CD6998-263D-7C0E-7B83-5D39F01EE843}"/>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C58D037-D1F7-94A9-3FD4-BDA4593707DA}"/>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93155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BC353A-4097-653A-372C-691B661F6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939D151-F012-3052-D421-A2A7624C4E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15F065F-45E0-1E27-7FE8-23DFF1D34868}"/>
              </a:ext>
            </a:extLst>
          </p:cNvPr>
          <p:cNvSpPr>
            <a:spLocks noGrp="1"/>
          </p:cNvSpPr>
          <p:nvPr>
            <p:ph type="dt" sz="half" idx="10"/>
          </p:nvPr>
        </p:nvSpPr>
        <p:spPr/>
        <p:txBody>
          <a:bodyPr/>
          <a:lstStyle/>
          <a:p>
            <a:fld id="{8E1F1378-3DDE-4F5A-980E-BB4E51B40D6D}" type="datetime1">
              <a:rPr lang="en-PH" smtClean="0"/>
              <a:t>25/12/2025</a:t>
            </a:fld>
            <a:endParaRPr lang="en-PH" dirty="0"/>
          </a:p>
        </p:txBody>
      </p:sp>
      <p:sp>
        <p:nvSpPr>
          <p:cNvPr id="5" name="Footer Placeholder 4">
            <a:extLst>
              <a:ext uri="{FF2B5EF4-FFF2-40B4-BE49-F238E27FC236}">
                <a16:creationId xmlns:a16="http://schemas.microsoft.com/office/drawing/2014/main" id="{B7E662F4-DB0D-DD94-2A2B-DA3CA6A64E9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9EB41570-C5C2-6AAC-86F5-1D5AC446CD72}"/>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68623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2AEFFE-9AA6-1D4A-851C-D7B59444E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11922BD-01A8-68C9-14AE-C55D72294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4D07B24-FF86-FE6D-D8FE-C99916167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D97E3A-E09E-4943-AEDC-B20AB33B8EAA}" type="datetime1">
              <a:rPr lang="en-PH" smtClean="0"/>
              <a:t>25/12/2025</a:t>
            </a:fld>
            <a:endParaRPr lang="en-PH" dirty="0"/>
          </a:p>
        </p:txBody>
      </p:sp>
      <p:sp>
        <p:nvSpPr>
          <p:cNvPr id="5" name="Footer Placeholder 4">
            <a:extLst>
              <a:ext uri="{FF2B5EF4-FFF2-40B4-BE49-F238E27FC236}">
                <a16:creationId xmlns:a16="http://schemas.microsoft.com/office/drawing/2014/main" id="{25401491-0B8C-B71A-E483-B74A8B7F0C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dirty="0"/>
          </a:p>
        </p:txBody>
      </p:sp>
      <p:sp>
        <p:nvSpPr>
          <p:cNvPr id="6" name="Slide Number Placeholder 5">
            <a:extLst>
              <a:ext uri="{FF2B5EF4-FFF2-40B4-BE49-F238E27FC236}">
                <a16:creationId xmlns:a16="http://schemas.microsoft.com/office/drawing/2014/main" id="{1BEB159E-AE4D-5BFF-C688-679B7849D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863EF6-A0EA-4665-B999-CBD75E062146}" type="slidenum">
              <a:rPr lang="en-PH" smtClean="0"/>
              <a:t>‹#›</a:t>
            </a:fld>
            <a:endParaRPr lang="en-PH" dirty="0"/>
          </a:p>
        </p:txBody>
      </p:sp>
    </p:spTree>
    <p:extLst>
      <p:ext uri="{BB962C8B-B14F-4D97-AF65-F5344CB8AC3E}">
        <p14:creationId xmlns:p14="http://schemas.microsoft.com/office/powerpoint/2010/main" val="438696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shivamb/netflix-show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1.xml"/><Relationship Id="rId7" Type="http://schemas.openxmlformats.org/officeDocument/2006/relationships/image" Target="../media/image1.png"/><Relationship Id="rId12" Type="http://schemas.openxmlformats.org/officeDocument/2006/relationships/image" Target="../media/image6.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openxmlformats.org/officeDocument/2006/relationships/image" Target="../media/image4.svg"/><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50913"/>
            </a:gs>
            <a:gs pos="76000">
              <a:schemeClr val="tx1">
                <a:lumMod val="85000"/>
                <a:lumOff val="15000"/>
              </a:schemeClr>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1C03-F611-AC38-2DB4-702FD3D66437}"/>
              </a:ext>
            </a:extLst>
          </p:cNvPr>
          <p:cNvSpPr>
            <a:spLocks noGrp="1"/>
          </p:cNvSpPr>
          <p:nvPr>
            <p:ph type="ctrTitle"/>
          </p:nvPr>
        </p:nvSpPr>
        <p:spPr>
          <a:xfrm>
            <a:off x="477520" y="1477963"/>
            <a:ext cx="11186160" cy="2387600"/>
          </a:xfrm>
        </p:spPr>
        <p:txBody>
          <a:bodyPr anchor="ctr">
            <a:noAutofit/>
          </a:bodyPr>
          <a:lstStyle/>
          <a:p>
            <a:r>
              <a:rPr lang="en-US" sz="4000" dirty="0">
                <a:solidFill>
                  <a:schemeClr val="bg1"/>
                </a:solidFill>
                <a:latin typeface="Impact" panose="020B0806030902050204" pitchFamily="34" charset="0"/>
              </a:rPr>
              <a:t>Capstone:</a:t>
            </a:r>
            <a:br>
              <a:rPr lang="en-US" sz="4000" dirty="0">
                <a:solidFill>
                  <a:schemeClr val="bg1"/>
                </a:solidFill>
                <a:latin typeface="Impact" panose="020B0806030902050204" pitchFamily="34" charset="0"/>
              </a:rPr>
            </a:br>
            <a:r>
              <a:rPr lang="en-US" sz="4000" dirty="0">
                <a:solidFill>
                  <a:schemeClr val="bg1"/>
                </a:solidFill>
                <a:latin typeface="Impact" panose="020B0806030902050204" pitchFamily="34" charset="0"/>
              </a:rPr>
              <a:t>Improving Content Discovery on Netflix</a:t>
            </a:r>
            <a:br>
              <a:rPr lang="en-US" sz="4000" dirty="0">
                <a:solidFill>
                  <a:schemeClr val="bg1"/>
                </a:solidFill>
                <a:latin typeface="Impact" panose="020B0806030902050204" pitchFamily="34" charset="0"/>
              </a:rPr>
            </a:br>
            <a:r>
              <a:rPr lang="en-US" sz="4000" dirty="0">
                <a:solidFill>
                  <a:schemeClr val="bg1"/>
                </a:solidFill>
                <a:latin typeface="Impact" panose="020B0806030902050204" pitchFamily="34" charset="0"/>
              </a:rPr>
              <a:t>Under Cold-Start Conditions</a:t>
            </a:r>
            <a:br>
              <a:rPr lang="en-US" sz="4000" dirty="0">
                <a:solidFill>
                  <a:schemeClr val="bg1"/>
                </a:solidFill>
                <a:latin typeface="Impact" panose="020B0806030902050204" pitchFamily="34" charset="0"/>
              </a:rPr>
            </a:br>
            <a:br>
              <a:rPr lang="en-US" sz="4000" dirty="0">
                <a:solidFill>
                  <a:schemeClr val="bg1"/>
                </a:solidFill>
                <a:latin typeface="Impact" panose="020B0806030902050204" pitchFamily="34" charset="0"/>
              </a:rPr>
            </a:br>
            <a:r>
              <a:rPr lang="en-US" sz="3200" dirty="0">
                <a:solidFill>
                  <a:schemeClr val="bg1"/>
                </a:solidFill>
                <a:latin typeface="Impact" panose="020B0806030902050204" pitchFamily="34" charset="0"/>
              </a:rPr>
              <a:t>An Explainable, Bias-Aware Recommendation Approach</a:t>
            </a:r>
            <a:endParaRPr lang="en-PH" sz="4000" dirty="0">
              <a:solidFill>
                <a:schemeClr val="bg1"/>
              </a:solidFill>
              <a:latin typeface="Impact" panose="020B0806030902050204" pitchFamily="34" charset="0"/>
            </a:endParaRPr>
          </a:p>
        </p:txBody>
      </p:sp>
      <p:sp>
        <p:nvSpPr>
          <p:cNvPr id="3" name="Subtitle 2">
            <a:extLst>
              <a:ext uri="{FF2B5EF4-FFF2-40B4-BE49-F238E27FC236}">
                <a16:creationId xmlns:a16="http://schemas.microsoft.com/office/drawing/2014/main" id="{2972692E-157D-7DC7-DC38-61C7E2195ED5}"/>
              </a:ext>
            </a:extLst>
          </p:cNvPr>
          <p:cNvSpPr>
            <a:spLocks noGrp="1"/>
          </p:cNvSpPr>
          <p:nvPr>
            <p:ph type="subTitle" idx="1"/>
          </p:nvPr>
        </p:nvSpPr>
        <p:spPr>
          <a:xfrm>
            <a:off x="690880" y="4988560"/>
            <a:ext cx="9144000" cy="1092200"/>
          </a:xfrm>
        </p:spPr>
        <p:txBody>
          <a:bodyPr/>
          <a:lstStyle/>
          <a:p>
            <a:pPr algn="l"/>
            <a:r>
              <a:rPr lang="en-US" dirty="0">
                <a:solidFill>
                  <a:schemeClr val="bg1"/>
                </a:solidFill>
                <a:latin typeface="Arial" panose="020B0604020202020204" pitchFamily="34" charset="0"/>
                <a:cs typeface="Arial" panose="020B0604020202020204" pitchFamily="34" charset="0"/>
              </a:rPr>
              <a:t>Marvin L. Ford, MBAA</a:t>
            </a:r>
            <a:br>
              <a:rPr lang="en-US"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Postgraduate Diploma in Artificial Intelligence and Machine Learning</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December 2024-December 2025 Cohort</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Asian Institute of Management</a:t>
            </a:r>
            <a:endParaRPr lang="en-PH"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113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FF5DA-7D22-7DEC-CB1F-A73754E93CA1}"/>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Business Problem and Proposed Solution</a:t>
            </a:r>
            <a:endParaRPr lang="en-PH" sz="3400" dirty="0"/>
          </a:p>
        </p:txBody>
      </p:sp>
      <p:sp>
        <p:nvSpPr>
          <p:cNvPr id="3" name="Content Placeholder 2">
            <a:extLst>
              <a:ext uri="{FF2B5EF4-FFF2-40B4-BE49-F238E27FC236}">
                <a16:creationId xmlns:a16="http://schemas.microsoft.com/office/drawing/2014/main" id="{2A4B7AF3-55F4-05CB-2E05-A95D8D97B95B}"/>
              </a:ext>
            </a:extLst>
          </p:cNvPr>
          <p:cNvSpPr>
            <a:spLocks noGrp="1"/>
          </p:cNvSpPr>
          <p:nvPr>
            <p:ph idx="1"/>
          </p:nvPr>
        </p:nvSpPr>
        <p:spPr>
          <a:xfrm>
            <a:off x="838200" y="1368425"/>
            <a:ext cx="10515600" cy="4351338"/>
          </a:xfrm>
        </p:spPr>
        <p:txBody>
          <a:bodyPr>
            <a:normAutofit fontScale="85000" lnSpcReduction="20000"/>
          </a:bodyPr>
          <a:lstStyle/>
          <a:p>
            <a:r>
              <a:rPr lang="en-US" b="1" dirty="0">
                <a:latin typeface="Arial" panose="020B0604020202020204" pitchFamily="34" charset="0"/>
                <a:cs typeface="Arial" panose="020B0604020202020204" pitchFamily="34" charset="0"/>
              </a:rPr>
              <a:t>Business Problem: </a:t>
            </a:r>
          </a:p>
          <a:p>
            <a:pPr lvl="1" algn="just">
              <a:lnSpc>
                <a:spcPct val="124000"/>
              </a:lnSpc>
            </a:pPr>
            <a:r>
              <a:rPr lang="en-US" dirty="0">
                <a:latin typeface="Arial" panose="020B0604020202020204" pitchFamily="34" charset="0"/>
                <a:cs typeface="Arial" panose="020B0604020202020204" pitchFamily="34" charset="0"/>
              </a:rPr>
              <a:t>Users of large streaming platforms often struggle to discover content that matches their interests due to the size and diversity of the catalog, especially when user interaction data is limited. This leads to longer browsing time, over-exposure to popular titles, and weaker engagement for new or infrequent viewers.</a:t>
            </a:r>
          </a:p>
          <a:p>
            <a:pPr marL="457200" lvl="1" indent="0">
              <a:buNone/>
            </a:pP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Proposed Solution: </a:t>
            </a:r>
          </a:p>
          <a:p>
            <a:pPr lvl="1">
              <a:lnSpc>
                <a:spcPct val="134000"/>
              </a:lnSpc>
            </a:pPr>
            <a:r>
              <a:rPr lang="en-US" dirty="0">
                <a:latin typeface="Arial" panose="020B0604020202020204" pitchFamily="34" charset="0"/>
                <a:cs typeface="Arial" panose="020B0604020202020204" pitchFamily="34" charset="0"/>
              </a:rPr>
              <a:t>Deploy a content-based recommendation approach that leverages title metadata rather than user history, enabling effective discovery under cold-start (when little or no user history is available) and data-limited conditions. This reduces browsing friction, broadens exposure beyond popularity-driven content, and supports scalable deployment with lower data dependency and regulatory risk.</a:t>
            </a:r>
          </a:p>
        </p:txBody>
      </p:sp>
      <p:sp>
        <p:nvSpPr>
          <p:cNvPr id="4" name="Rectangle 3">
            <a:extLst>
              <a:ext uri="{FF2B5EF4-FFF2-40B4-BE49-F238E27FC236}">
                <a16:creationId xmlns:a16="http://schemas.microsoft.com/office/drawing/2014/main" id="{B37A09D0-E55C-9A11-5572-51EB0729B015}"/>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559951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4254D-654F-6BBB-7EE9-89F6FC559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0BF16-8E06-41D8-8E2C-F5103B8B6352}"/>
              </a:ext>
            </a:extLst>
          </p:cNvPr>
          <p:cNvSpPr>
            <a:spLocks noGrp="1"/>
          </p:cNvSpPr>
          <p:nvPr>
            <p:ph type="title"/>
          </p:nvPr>
        </p:nvSpPr>
        <p:spPr>
          <a:xfrm>
            <a:off x="426720" y="365126"/>
            <a:ext cx="10927080" cy="715962"/>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Success Metrics (KPIs)</a:t>
            </a:r>
            <a:endParaRPr lang="en-PH" sz="3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24573F-BEB8-F6DF-BDC4-9B7BD927B640}"/>
              </a:ext>
            </a:extLst>
          </p:cNvPr>
          <p:cNvSpPr>
            <a:spLocks noGrp="1"/>
          </p:cNvSpPr>
          <p:nvPr>
            <p:ph idx="1"/>
          </p:nvPr>
        </p:nvSpPr>
        <p:spPr>
          <a:xfrm>
            <a:off x="848360" y="1205865"/>
            <a:ext cx="10515600" cy="1720215"/>
          </a:xfrm>
        </p:spPr>
        <p:txBody>
          <a:bodyPr>
            <a:normAutofit lnSpcReduction="10000"/>
          </a:bodyPr>
          <a:lstStyle/>
          <a:p>
            <a:pPr marL="0" indent="0" algn="just">
              <a:lnSpc>
                <a:spcPct val="110000"/>
              </a:lnSpc>
              <a:buNone/>
            </a:pPr>
            <a:r>
              <a:rPr lang="en-US" sz="2000" dirty="0">
                <a:latin typeface="Arial" panose="020B0604020202020204" pitchFamily="34" charset="0"/>
                <a:cs typeface="Arial" panose="020B0604020202020204" pitchFamily="34" charset="0"/>
              </a:rPr>
              <a:t>These metrics assess whether the recommendation approach improves content discovery under cold-start and data-limited conditions. Because the system retrieves similar titles rather than predicting user behavior, success is measured through discovery quality, variety, fairness, and transparency, directly aligning performance with business outcomes rather than model accuracy.</a:t>
            </a:r>
          </a:p>
        </p:txBody>
      </p:sp>
      <p:sp>
        <p:nvSpPr>
          <p:cNvPr id="4" name="Rectangle 3">
            <a:extLst>
              <a:ext uri="{FF2B5EF4-FFF2-40B4-BE49-F238E27FC236}">
                <a16:creationId xmlns:a16="http://schemas.microsoft.com/office/drawing/2014/main" id="{E179021A-B069-C6DE-C37A-77A21F740014}"/>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5" name="Content Placeholder 2">
            <a:extLst>
              <a:ext uri="{FF2B5EF4-FFF2-40B4-BE49-F238E27FC236}">
                <a16:creationId xmlns:a16="http://schemas.microsoft.com/office/drawing/2014/main" id="{4A8251C0-1E90-6FA1-72F2-649E057D84CD}"/>
              </a:ext>
            </a:extLst>
          </p:cNvPr>
          <p:cNvSpPr txBox="1">
            <a:spLocks/>
          </p:cNvSpPr>
          <p:nvPr/>
        </p:nvSpPr>
        <p:spPr>
          <a:xfrm>
            <a:off x="838200" y="3007359"/>
            <a:ext cx="10515600" cy="33934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Recommendation Relevance</a:t>
            </a:r>
          </a:p>
          <a:p>
            <a:pPr lvl="1"/>
            <a:r>
              <a:rPr lang="en-US" sz="1400" dirty="0">
                <a:latin typeface="Arial" panose="020B0604020202020204" pitchFamily="34" charset="0"/>
                <a:cs typeface="Arial" panose="020B0604020202020204" pitchFamily="34" charset="0"/>
              </a:rPr>
              <a:t>Measures how well suggested titles align with the selected content.</a:t>
            </a:r>
          </a:p>
          <a:p>
            <a:pPr lvl="1"/>
            <a:r>
              <a:rPr lang="en-US" sz="1400" dirty="0">
                <a:latin typeface="Arial" panose="020B0604020202020204" pitchFamily="34" charset="0"/>
                <a:cs typeface="Arial" panose="020B0604020202020204" pitchFamily="34" charset="0"/>
              </a:rPr>
              <a:t>Ensures recommendations are useful and contextually appropriate. </a:t>
            </a:r>
          </a:p>
          <a:p>
            <a:r>
              <a:rPr lang="en-US" sz="1400" b="1" dirty="0">
                <a:latin typeface="Arial" panose="020B0604020202020204" pitchFamily="34" charset="0"/>
                <a:cs typeface="Arial" panose="020B0604020202020204" pitchFamily="34" charset="0"/>
              </a:rPr>
              <a:t>Content Variety</a:t>
            </a:r>
          </a:p>
          <a:p>
            <a:pPr lvl="1"/>
            <a:r>
              <a:rPr lang="en-US" sz="1400" dirty="0">
                <a:latin typeface="Arial" panose="020B0604020202020204" pitchFamily="34" charset="0"/>
                <a:cs typeface="Arial" panose="020B0604020202020204" pitchFamily="34" charset="0"/>
              </a:rPr>
              <a:t>Tracks diversity within recommendation lists to prevent repetitive or overly narrow suggestions.</a:t>
            </a:r>
          </a:p>
          <a:p>
            <a:pPr lvl="1"/>
            <a:r>
              <a:rPr lang="en-US" sz="1400" dirty="0">
                <a:latin typeface="Arial" panose="020B0604020202020204" pitchFamily="34" charset="0"/>
                <a:cs typeface="Arial" panose="020B0604020202020204" pitchFamily="34" charset="0"/>
              </a:rPr>
              <a:t>Balances relevance with exploration to improve user experience.</a:t>
            </a:r>
          </a:p>
          <a:p>
            <a:r>
              <a:rPr lang="en-US" sz="1400" b="1" dirty="0">
                <a:latin typeface="Arial" panose="020B0604020202020204" pitchFamily="34" charset="0"/>
                <a:cs typeface="Arial" panose="020B0604020202020204" pitchFamily="34" charset="0"/>
              </a:rPr>
              <a:t>Catalog Exposure</a:t>
            </a:r>
          </a:p>
          <a:p>
            <a:pPr lvl="1"/>
            <a:r>
              <a:rPr lang="en-US" sz="1400" dirty="0">
                <a:latin typeface="Arial" panose="020B0604020202020204" pitchFamily="34" charset="0"/>
                <a:cs typeface="Arial" panose="020B0604020202020204" pitchFamily="34" charset="0"/>
              </a:rPr>
              <a:t>Assesses how broadly recommendations surface titles across the catalog.</a:t>
            </a:r>
          </a:p>
          <a:p>
            <a:pPr lvl="1"/>
            <a:r>
              <a:rPr lang="en-US" sz="1400" dirty="0">
                <a:latin typeface="Arial" panose="020B0604020202020204" pitchFamily="34" charset="0"/>
                <a:cs typeface="Arial" panose="020B0604020202020204" pitchFamily="34" charset="0"/>
              </a:rPr>
              <a:t>Reduces over-reliance on already popular content and supports fair visibility.</a:t>
            </a:r>
          </a:p>
          <a:p>
            <a:r>
              <a:rPr lang="en-US" sz="1400" b="1" dirty="0">
                <a:latin typeface="Arial" panose="020B0604020202020204" pitchFamily="34" charset="0"/>
                <a:cs typeface="Arial" panose="020B0604020202020204" pitchFamily="34" charset="0"/>
              </a:rPr>
              <a:t>Recommendation Transparency</a:t>
            </a:r>
          </a:p>
          <a:p>
            <a:pPr lvl="1"/>
            <a:r>
              <a:rPr lang="en-US" sz="1400" dirty="0">
                <a:latin typeface="Arial" panose="020B0604020202020204" pitchFamily="34" charset="0"/>
                <a:cs typeface="Arial" panose="020B0604020202020204" pitchFamily="34" charset="0"/>
              </a:rPr>
              <a:t>Confirms that recommendations can be clearly explained using observable content features.</a:t>
            </a:r>
          </a:p>
          <a:p>
            <a:pPr lvl="1"/>
            <a:r>
              <a:rPr lang="en-US" sz="1400" dirty="0">
                <a:latin typeface="Arial" panose="020B0604020202020204" pitchFamily="34" charset="0"/>
                <a:cs typeface="Arial" panose="020B0604020202020204" pitchFamily="34" charset="0"/>
              </a:rPr>
              <a:t>Transparency and explainability (Explainability Coverage) to support trust, governance, and auditability..</a:t>
            </a:r>
          </a:p>
        </p:txBody>
      </p:sp>
    </p:spTree>
    <p:extLst>
      <p:ext uri="{BB962C8B-B14F-4D97-AF65-F5344CB8AC3E}">
        <p14:creationId xmlns:p14="http://schemas.microsoft.com/office/powerpoint/2010/main" val="16563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CE02-F864-8E06-E2DD-3E7E188FF939}"/>
              </a:ext>
            </a:extLst>
          </p:cNvPr>
          <p:cNvSpPr>
            <a:spLocks noGrp="1"/>
          </p:cNvSpPr>
          <p:nvPr>
            <p:ph type="title"/>
          </p:nvPr>
        </p:nvSpPr>
        <p:spPr>
          <a:xfrm>
            <a:off x="426720" y="443276"/>
            <a:ext cx="10515600" cy="549275"/>
          </a:xfrm>
        </p:spPr>
        <p:txBody>
          <a:bodyPr>
            <a:noAutofit/>
          </a:bodyPr>
          <a:lstStyle/>
          <a:p>
            <a:r>
              <a:rPr lang="en-US" sz="3400" b="1" dirty="0">
                <a:solidFill>
                  <a:srgbClr val="C00000"/>
                </a:solidFill>
                <a:latin typeface="Arial" panose="020B0604020202020204" pitchFamily="34" charset="0"/>
                <a:cs typeface="Arial" panose="020B0604020202020204" pitchFamily="34" charset="0"/>
              </a:rPr>
              <a:t>Data Overview &amp; Readiness</a:t>
            </a:r>
            <a:endParaRPr lang="en-PH" sz="3400" b="1"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0714FF6-2615-FE71-151B-716985A457EE}"/>
              </a:ext>
            </a:extLst>
          </p:cNvPr>
          <p:cNvSpPr>
            <a:spLocks noGrp="1"/>
          </p:cNvSpPr>
          <p:nvPr>
            <p:ph idx="1"/>
          </p:nvPr>
        </p:nvSpPr>
        <p:spPr>
          <a:xfrm>
            <a:off x="838200" y="1205865"/>
            <a:ext cx="10515600" cy="4473575"/>
          </a:xfrm>
        </p:spPr>
        <p:txBody>
          <a:bodyPr>
            <a:normAutofit lnSpcReduction="10000"/>
          </a:bodyPr>
          <a:lstStyle/>
          <a:p>
            <a:r>
              <a:rPr lang="en-US" sz="1800" dirty="0">
                <a:latin typeface="Arial" panose="020B0604020202020204" pitchFamily="34" charset="0"/>
                <a:cs typeface="Arial" panose="020B0604020202020204" pitchFamily="34" charset="0"/>
              </a:rPr>
              <a:t>Data Source: Netflix Movies and TV Shows Dataset (</a:t>
            </a:r>
            <a:r>
              <a:rPr lang="en-US" sz="1800" dirty="0">
                <a:latin typeface="Arial" panose="020B0604020202020204" pitchFamily="34" charset="0"/>
                <a:cs typeface="Arial" panose="020B0604020202020204" pitchFamily="34" charset="0"/>
                <a:hlinkClick r:id="rId3"/>
              </a:rPr>
              <a:t>Kaggle</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Dataset Snapshot:</a:t>
            </a:r>
          </a:p>
          <a:p>
            <a:pPr lvl="1"/>
            <a:r>
              <a:rPr lang="en-US" sz="1800" b="1" dirty="0">
                <a:latin typeface="Arial" panose="020B0604020202020204" pitchFamily="34" charset="0"/>
                <a:cs typeface="Arial" panose="020B0604020202020204" pitchFamily="34" charset="0"/>
              </a:rPr>
              <a:t>8,809 titles </a:t>
            </a:r>
            <a:r>
              <a:rPr lang="en-US" sz="1800" dirty="0">
                <a:latin typeface="Arial" panose="020B0604020202020204" pitchFamily="34" charset="0"/>
                <a:cs typeface="Arial" panose="020B0604020202020204" pitchFamily="34" charset="0"/>
              </a:rPr>
              <a:t>across </a:t>
            </a:r>
            <a:r>
              <a:rPr lang="en-US" sz="1800" b="1" dirty="0">
                <a:latin typeface="Arial" panose="020B0604020202020204" pitchFamily="34" charset="0"/>
                <a:cs typeface="Arial" panose="020B0604020202020204" pitchFamily="34" charset="0"/>
              </a:rPr>
              <a:t>Movies (6,132)</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TV Shows (2,677)</a:t>
            </a:r>
            <a:r>
              <a:rPr lang="en-US" sz="1800" dirty="0">
                <a:latin typeface="Arial" panose="020B0604020202020204" pitchFamily="34" charset="0"/>
                <a:cs typeface="Arial" panose="020B0604020202020204" pitchFamily="34" charset="0"/>
              </a:rPr>
              <a:t>.</a:t>
            </a:r>
          </a:p>
          <a:p>
            <a:pPr lvl="1"/>
            <a:r>
              <a:rPr lang="en-US" sz="1800" b="1" dirty="0">
                <a:latin typeface="Arial" panose="020B0604020202020204" pitchFamily="34" charset="0"/>
                <a:cs typeface="Arial" panose="020B0604020202020204" pitchFamily="34" charset="0"/>
              </a:rPr>
              <a:t>26 metadata fields </a:t>
            </a:r>
            <a:r>
              <a:rPr lang="en-US" sz="1800" dirty="0">
                <a:latin typeface="Arial" panose="020B0604020202020204" pitchFamily="34" charset="0"/>
                <a:cs typeface="Arial" panose="020B0604020202020204" pitchFamily="34" charset="0"/>
              </a:rPr>
              <a:t>covering descriptions, genres, cast, director, country, and release details.</a:t>
            </a:r>
          </a:p>
          <a:p>
            <a:r>
              <a:rPr lang="en-US" sz="1800" dirty="0">
                <a:latin typeface="Arial" panose="020B0604020202020204" pitchFamily="34" charset="0"/>
                <a:cs typeface="Arial" panose="020B0604020202020204" pitchFamily="34" charset="0"/>
              </a:rPr>
              <a:t>Data Quality Summary: </a:t>
            </a:r>
          </a:p>
          <a:p>
            <a:pPr lvl="1"/>
            <a:r>
              <a:rPr lang="en-US" sz="1800" dirty="0">
                <a:latin typeface="Arial" panose="020B0604020202020204" pitchFamily="34" charset="0"/>
                <a:cs typeface="Arial" panose="020B0604020202020204" pitchFamily="34" charset="0"/>
              </a:rPr>
              <a:t>Data was assessed for completeness, duplicate title handling, and structural quality.</a:t>
            </a:r>
          </a:p>
          <a:p>
            <a:pPr lvl="1"/>
            <a:r>
              <a:rPr lang="en-US" sz="1800" dirty="0">
                <a:latin typeface="Arial" panose="020B0604020202020204" pitchFamily="34" charset="0"/>
                <a:cs typeface="Arial" panose="020B0604020202020204" pitchFamily="34" charset="0"/>
              </a:rPr>
              <a:t>Missing values primarily in </a:t>
            </a:r>
            <a:r>
              <a:rPr lang="en-US" sz="1800" b="1" dirty="0">
                <a:latin typeface="Arial" panose="020B0604020202020204" pitchFamily="34" charset="0"/>
                <a:cs typeface="Arial" panose="020B0604020202020204" pitchFamily="34" charset="0"/>
              </a:rPr>
              <a:t>director (~30%), cast (~9%), and country (~9%).</a:t>
            </a:r>
          </a:p>
          <a:p>
            <a:pPr lvl="1"/>
            <a:r>
              <a:rPr lang="en-US" sz="1800" dirty="0">
                <a:latin typeface="Arial" panose="020B0604020202020204" pitchFamily="34" charset="0"/>
                <a:cs typeface="Arial" panose="020B0604020202020204" pitchFamily="34" charset="0"/>
              </a:rPr>
              <a:t>No critical gaps in </a:t>
            </a:r>
            <a:r>
              <a:rPr lang="en-US" sz="1800" b="1" dirty="0">
                <a:latin typeface="Arial" panose="020B0604020202020204" pitchFamily="34" charset="0"/>
                <a:cs typeface="Arial" panose="020B0604020202020204" pitchFamily="34" charset="0"/>
              </a:rPr>
              <a:t>core content fields </a:t>
            </a:r>
            <a:r>
              <a:rPr lang="en-US" sz="1800" dirty="0">
                <a:latin typeface="Arial" panose="020B0604020202020204" pitchFamily="34" charset="0"/>
                <a:cs typeface="Arial" panose="020B0604020202020204" pitchFamily="34" charset="0"/>
              </a:rPr>
              <a:t>(description, genre).</a:t>
            </a:r>
          </a:p>
          <a:p>
            <a:pPr lvl="1"/>
            <a:r>
              <a:rPr lang="en-US" sz="1800" dirty="0">
                <a:latin typeface="Arial" panose="020B0604020202020204" pitchFamily="34" charset="0"/>
                <a:cs typeface="Arial" panose="020B0604020202020204" pitchFamily="34" charset="0"/>
              </a:rPr>
              <a:t>Minor structural issues (empty placeholders, few duplicates) addressed during preprocessing.</a:t>
            </a:r>
          </a:p>
          <a:p>
            <a:pPr lvl="1"/>
            <a:r>
              <a:rPr lang="en-US" sz="1800" dirty="0">
                <a:latin typeface="Arial" panose="020B0604020202020204" pitchFamily="34" charset="0"/>
                <a:cs typeface="Arial" panose="020B0604020202020204" pitchFamily="34" charset="0"/>
              </a:rPr>
              <a:t>Core semantic fields (description, genres) are complete enough to support similarity modeling, while partial metadata gaps were handled without reducing catalog size. </a:t>
            </a:r>
          </a:p>
          <a:p>
            <a:r>
              <a:rPr lang="en-US" sz="1800" dirty="0">
                <a:latin typeface="Arial" panose="020B0604020202020204" pitchFamily="34" charset="0"/>
                <a:cs typeface="Arial" panose="020B0604020202020204" pitchFamily="34" charset="0"/>
              </a:rPr>
              <a:t>Business Relevance: </a:t>
            </a:r>
          </a:p>
          <a:p>
            <a:pPr lvl="1"/>
            <a:r>
              <a:rPr lang="en-US" sz="1800" dirty="0">
                <a:latin typeface="Arial" panose="020B0604020202020204" pitchFamily="34" charset="0"/>
                <a:cs typeface="Arial" panose="020B0604020202020204" pitchFamily="34" charset="0"/>
              </a:rPr>
              <a:t>Enables scalable, metadata-driven recommendations.</a:t>
            </a:r>
          </a:p>
          <a:p>
            <a:pPr lvl="1"/>
            <a:r>
              <a:rPr lang="en-US" sz="1800" dirty="0">
                <a:latin typeface="Arial" panose="020B0604020202020204" pitchFamily="34" charset="0"/>
                <a:cs typeface="Arial" panose="020B0604020202020204" pitchFamily="34" charset="0"/>
              </a:rPr>
              <a:t>Preserves full catalog coverage while maintaining explainability and low operational risk.</a:t>
            </a:r>
          </a:p>
          <a:p>
            <a:pPr lvl="1"/>
            <a:endParaRPr lang="en-US" sz="18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B8C35DB-4B32-22D6-1881-D8EAE7993296}"/>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96594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6844-BB2A-0B83-6E6B-50E528336D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B484C-05F4-227F-4D6E-CC4EDDDE695B}"/>
              </a:ext>
            </a:extLst>
          </p:cNvPr>
          <p:cNvSpPr>
            <a:spLocks noGrp="1"/>
          </p:cNvSpPr>
          <p:nvPr>
            <p:ph idx="1"/>
          </p:nvPr>
        </p:nvSpPr>
        <p:spPr>
          <a:xfrm>
            <a:off x="904574" y="1333622"/>
            <a:ext cx="5257801" cy="4915862"/>
          </a:xfrm>
        </p:spPr>
        <p:txBody>
          <a:bodyPr>
            <a:normAutofit lnSpcReduction="10000"/>
          </a:bodyPr>
          <a:lstStyle/>
          <a:p>
            <a:r>
              <a:rPr lang="en-US" sz="1400" b="1" dirty="0">
                <a:latin typeface="Arial" panose="020B0604020202020204" pitchFamily="34" charset="0"/>
                <a:cs typeface="Arial" panose="020B0604020202020204" pitchFamily="34" charset="0"/>
              </a:rPr>
              <a:t>Approach</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Uses title metadata (descriptions, genres, cast, director, country) to identify content similarity.</a:t>
            </a:r>
          </a:p>
          <a:p>
            <a:pPr lvl="1"/>
            <a:r>
              <a:rPr lang="en-US" sz="1400" dirty="0">
                <a:latin typeface="Arial" panose="020B0604020202020204" pitchFamily="34" charset="0"/>
                <a:cs typeface="Arial" panose="020B0604020202020204" pitchFamily="34" charset="0"/>
              </a:rPr>
              <a:t>Operates without user profiles, ratings, or behavioral tracking, making it effective in </a:t>
            </a:r>
            <a:r>
              <a:rPr lang="en-US" sz="1400" b="1" dirty="0">
                <a:latin typeface="Arial" panose="020B0604020202020204" pitchFamily="34" charset="0"/>
                <a:cs typeface="Arial" panose="020B0604020202020204" pitchFamily="34" charset="0"/>
              </a:rPr>
              <a:t>cold-start scenarios</a:t>
            </a:r>
            <a:r>
              <a:rPr lang="en-US" sz="1400" dirty="0">
                <a:latin typeface="Arial" panose="020B0604020202020204" pitchFamily="34" charset="0"/>
                <a:cs typeface="Arial" panose="020B0604020202020204" pitchFamily="34" charset="0"/>
              </a:rPr>
              <a:t>.</a:t>
            </a:r>
          </a:p>
          <a:p>
            <a:pPr lvl="1"/>
            <a:r>
              <a:rPr lang="en-US" sz="1400" dirty="0">
                <a:latin typeface="Arial" panose="020B0604020202020204" pitchFamily="34" charset="0"/>
                <a:cs typeface="Arial" panose="020B0604020202020204" pitchFamily="34" charset="0"/>
              </a:rPr>
              <a:t>Applies type-aware similarity so movies are compared with movies and TV shows with TV shows.</a:t>
            </a:r>
          </a:p>
          <a:p>
            <a:r>
              <a:rPr lang="en-US" sz="1400" b="1" dirty="0">
                <a:latin typeface="Arial" panose="020B0604020202020204" pitchFamily="34" charset="0"/>
                <a:cs typeface="Arial" panose="020B0604020202020204" pitchFamily="34" charset="0"/>
              </a:rPr>
              <a:t>Key Design Decisions</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Tolerant preprocessing preserves catalog breadth rather than discarding imperfect titles.</a:t>
            </a:r>
          </a:p>
          <a:p>
            <a:pPr lvl="1"/>
            <a:r>
              <a:rPr lang="en-US" sz="1400" dirty="0">
                <a:latin typeface="Arial" panose="020B0604020202020204" pitchFamily="34" charset="0"/>
                <a:cs typeface="Arial" panose="020B0604020202020204" pitchFamily="34" charset="0"/>
              </a:rPr>
              <a:t>Feature selection prioritizes semantic meaning and explainability over dimensional reduction.</a:t>
            </a:r>
          </a:p>
          <a:p>
            <a:pPr lvl="1"/>
            <a:r>
              <a:rPr lang="en-US" sz="1400" dirty="0">
                <a:latin typeface="Arial" panose="020B0604020202020204" pitchFamily="34" charset="0"/>
                <a:cs typeface="Arial" panose="020B0604020202020204" pitchFamily="34" charset="0"/>
              </a:rPr>
              <a:t>Balanced weighting and diversity controls prevent dominance by popular genres or regions.</a:t>
            </a:r>
          </a:p>
          <a:p>
            <a:r>
              <a:rPr lang="en-US" sz="1400" b="1" dirty="0">
                <a:latin typeface="Arial" panose="020B0604020202020204" pitchFamily="34" charset="0"/>
                <a:cs typeface="Arial" panose="020B0604020202020204" pitchFamily="34" charset="0"/>
              </a:rPr>
              <a:t>Business Value Enabled</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Enables relevant recommendations even with limited data.</a:t>
            </a:r>
          </a:p>
          <a:p>
            <a:pPr lvl="1"/>
            <a:r>
              <a:rPr lang="en-US" sz="1400" dirty="0">
                <a:latin typeface="Arial" panose="020B0604020202020204" pitchFamily="34" charset="0"/>
                <a:cs typeface="Arial" panose="020B0604020202020204" pitchFamily="34" charset="0"/>
              </a:rPr>
              <a:t>Maintains transparency and auditability in similarity decisions.</a:t>
            </a:r>
          </a:p>
          <a:p>
            <a:pPr lvl="1"/>
            <a:r>
              <a:rPr lang="en-US" sz="1400" dirty="0">
                <a:latin typeface="Arial" panose="020B0604020202020204" pitchFamily="34" charset="0"/>
                <a:cs typeface="Arial" panose="020B0604020202020204" pitchFamily="34" charset="0"/>
              </a:rPr>
              <a:t>Reduces bias from catalog imbalance while preserving discovery quality.</a:t>
            </a:r>
          </a:p>
        </p:txBody>
      </p:sp>
      <p:sp>
        <p:nvSpPr>
          <p:cNvPr id="4" name="Rectangle 3">
            <a:extLst>
              <a:ext uri="{FF2B5EF4-FFF2-40B4-BE49-F238E27FC236}">
                <a16:creationId xmlns:a16="http://schemas.microsoft.com/office/drawing/2014/main" id="{AFF84AC8-EE19-BD81-9A38-3C6938956AFB}"/>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itle 1">
            <a:extLst>
              <a:ext uri="{FF2B5EF4-FFF2-40B4-BE49-F238E27FC236}">
                <a16:creationId xmlns:a16="http://schemas.microsoft.com/office/drawing/2014/main" id="{997C8499-E1C2-403C-CB9A-AAD482B2280F}"/>
              </a:ext>
            </a:extLst>
          </p:cNvPr>
          <p:cNvSpPr>
            <a:spLocks noGrp="1"/>
          </p:cNvSpPr>
          <p:nvPr>
            <p:ph type="title"/>
          </p:nvPr>
        </p:nvSpPr>
        <p:spPr>
          <a:xfrm>
            <a:off x="426720" y="443276"/>
            <a:ext cx="11677296" cy="549275"/>
          </a:xfrm>
        </p:spPr>
        <p:txBody>
          <a:bodyPr>
            <a:noAutofit/>
          </a:bodyPr>
          <a:lstStyle/>
          <a:p>
            <a:r>
              <a:rPr lang="en-US" sz="3100" b="1" dirty="0">
                <a:solidFill>
                  <a:srgbClr val="C00000"/>
                </a:solidFill>
                <a:latin typeface="Arial" panose="020B0604020202020204" pitchFamily="34" charset="0"/>
                <a:cs typeface="Arial" panose="020B0604020202020204" pitchFamily="34" charset="0"/>
              </a:rPr>
              <a:t>Proposed Solution: Metadata-Driven Recommender System</a:t>
            </a:r>
            <a:endParaRPr lang="en-PH" sz="3100" b="1" dirty="0">
              <a:solidFill>
                <a:srgbClr val="C00000"/>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87334F5-456E-CCBD-C81D-8F5E40418B86}"/>
              </a:ext>
            </a:extLst>
          </p:cNvPr>
          <p:cNvGrpSpPr/>
          <p:nvPr/>
        </p:nvGrpSpPr>
        <p:grpSpPr>
          <a:xfrm>
            <a:off x="6645511" y="2386396"/>
            <a:ext cx="4641915" cy="2810314"/>
            <a:chOff x="6711884" y="2596137"/>
            <a:chExt cx="4641915" cy="2810314"/>
          </a:xfrm>
        </p:grpSpPr>
        <p:graphicFrame>
          <p:nvGraphicFramePr>
            <p:cNvPr id="6" name="Diagram 5">
              <a:extLst>
                <a:ext uri="{FF2B5EF4-FFF2-40B4-BE49-F238E27FC236}">
                  <a16:creationId xmlns:a16="http://schemas.microsoft.com/office/drawing/2014/main" id="{64B55A3F-0EDD-9105-DCF3-7928CF084751}"/>
                </a:ext>
              </a:extLst>
            </p:cNvPr>
            <p:cNvGraphicFramePr/>
            <p:nvPr>
              <p:extLst>
                <p:ext uri="{D42A27DB-BD31-4B8C-83A1-F6EECF244321}">
                  <p14:modId xmlns:p14="http://schemas.microsoft.com/office/powerpoint/2010/main" val="1119406062"/>
                </p:ext>
              </p:extLst>
            </p:nvPr>
          </p:nvGraphicFramePr>
          <p:xfrm>
            <a:off x="6711884" y="2596137"/>
            <a:ext cx="4641915" cy="2810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phic 6" descr="Table with solid fill">
              <a:extLst>
                <a:ext uri="{FF2B5EF4-FFF2-40B4-BE49-F238E27FC236}">
                  <a16:creationId xmlns:a16="http://schemas.microsoft.com/office/drawing/2014/main" id="{001F46FB-A440-3A85-4B9C-E840F09684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91543" y="2943207"/>
              <a:ext cx="704655" cy="798927"/>
            </a:xfrm>
            <a:prstGeom prst="rect">
              <a:avLst/>
            </a:prstGeom>
          </p:spPr>
        </p:pic>
        <p:pic>
          <p:nvPicPr>
            <p:cNvPr id="10" name="Graphic 9" descr="List outline">
              <a:extLst>
                <a:ext uri="{FF2B5EF4-FFF2-40B4-BE49-F238E27FC236}">
                  <a16:creationId xmlns:a16="http://schemas.microsoft.com/office/drawing/2014/main" id="{CA98AA09-7867-CA67-0D0A-0E4951D7A3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3621" y="2943208"/>
              <a:ext cx="704656" cy="704656"/>
            </a:xfrm>
            <a:prstGeom prst="rect">
              <a:avLst/>
            </a:prstGeom>
          </p:spPr>
        </p:pic>
      </p:grpSp>
      <p:pic>
        <p:nvPicPr>
          <p:cNvPr id="12" name="Graphic 11" descr="Gears with solid fill">
            <a:extLst>
              <a:ext uri="{FF2B5EF4-FFF2-40B4-BE49-F238E27FC236}">
                <a16:creationId xmlns:a16="http://schemas.microsoft.com/office/drawing/2014/main" id="{F2D225C6-5A84-E496-5A7E-1F07551C59E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14140" y="2733467"/>
            <a:ext cx="704656" cy="704656"/>
          </a:xfrm>
          <a:prstGeom prst="rect">
            <a:avLst/>
          </a:prstGeom>
        </p:spPr>
      </p:pic>
    </p:spTree>
    <p:extLst>
      <p:ext uri="{BB962C8B-B14F-4D97-AF65-F5344CB8AC3E}">
        <p14:creationId xmlns:p14="http://schemas.microsoft.com/office/powerpoint/2010/main" val="166386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464E-4334-0EAF-9A2A-2F20B2BA9B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6461C-8797-083E-5D5D-012ED40A55C5}"/>
              </a:ext>
            </a:extLst>
          </p:cNvPr>
          <p:cNvSpPr>
            <a:spLocks noGrp="1"/>
          </p:cNvSpPr>
          <p:nvPr>
            <p:ph idx="1"/>
          </p:nvPr>
        </p:nvSpPr>
        <p:spPr>
          <a:xfrm>
            <a:off x="838200" y="2503131"/>
            <a:ext cx="5257800" cy="3702541"/>
          </a:xfrm>
        </p:spPr>
        <p:txBody>
          <a:bodyPr>
            <a:noAutofit/>
          </a:bodyPr>
          <a:lstStyle/>
          <a:p>
            <a:r>
              <a:rPr lang="en-US" sz="1300" b="1" dirty="0"/>
              <a:t>Evaluation Framework: </a:t>
            </a:r>
          </a:p>
          <a:p>
            <a:pPr lvl="1"/>
            <a:r>
              <a:rPr lang="en-US" sz="1300" dirty="0"/>
              <a:t>Models were compared using a composite score prioritizing relevance while enforcing diversity and catalog exposure controls.</a:t>
            </a:r>
          </a:p>
          <a:p>
            <a:pPr lvl="1"/>
            <a:r>
              <a:rPr lang="en-US" sz="1300" dirty="0"/>
              <a:t>Evaluation Focus: </a:t>
            </a:r>
          </a:p>
          <a:p>
            <a:pPr lvl="2"/>
            <a:r>
              <a:rPr lang="en-US" sz="1300" dirty="0"/>
              <a:t>Relevance: alignment with selected title</a:t>
            </a:r>
          </a:p>
          <a:p>
            <a:pPr lvl="2"/>
            <a:r>
              <a:rPr lang="en-US" sz="1300" dirty="0"/>
              <a:t>Variety: avoidance of repetitive suggestions</a:t>
            </a:r>
          </a:p>
          <a:p>
            <a:pPr lvl="2"/>
            <a:r>
              <a:rPr lang="en-US" sz="1300" dirty="0"/>
              <a:t>Exposure: broader and fairer catalog visibility</a:t>
            </a:r>
          </a:p>
          <a:p>
            <a:r>
              <a:rPr lang="en-US" sz="1300" b="1" dirty="0"/>
              <a:t>Key Findings: </a:t>
            </a:r>
          </a:p>
          <a:p>
            <a:pPr lvl="1"/>
            <a:r>
              <a:rPr lang="en-US" sz="1300" dirty="0"/>
              <a:t>Simple and heavily weighted models were relevant but repetitive</a:t>
            </a:r>
          </a:p>
          <a:p>
            <a:pPr lvl="1"/>
            <a:r>
              <a:rPr lang="en-US" sz="1300" dirty="0"/>
              <a:t>Balanced models improved variety but required tuning</a:t>
            </a:r>
          </a:p>
          <a:p>
            <a:pPr lvl="1"/>
            <a:r>
              <a:rPr lang="en-US" sz="1300" dirty="0"/>
              <a:t>Semantic similarity delivered the strongest overall balance.</a:t>
            </a:r>
          </a:p>
          <a:p>
            <a:r>
              <a:rPr lang="en-US" sz="1300" b="1" dirty="0"/>
              <a:t>Outcome: </a:t>
            </a:r>
          </a:p>
          <a:p>
            <a:pPr lvl="1"/>
            <a:r>
              <a:rPr lang="en-US" sz="1300" dirty="0"/>
              <a:t>Final model selection reflects controlled trade-offs across relevance, variety, and exposure, rather than optimizing a single metric.</a:t>
            </a:r>
          </a:p>
        </p:txBody>
      </p:sp>
      <p:sp>
        <p:nvSpPr>
          <p:cNvPr id="4" name="Content Placeholder 2">
            <a:extLst>
              <a:ext uri="{FF2B5EF4-FFF2-40B4-BE49-F238E27FC236}">
                <a16:creationId xmlns:a16="http://schemas.microsoft.com/office/drawing/2014/main" id="{80AC445F-2999-5447-404E-BC677C3D363A}"/>
              </a:ext>
            </a:extLst>
          </p:cNvPr>
          <p:cNvSpPr txBox="1">
            <a:spLocks/>
          </p:cNvSpPr>
          <p:nvPr/>
        </p:nvSpPr>
        <p:spPr>
          <a:xfrm>
            <a:off x="838200" y="1507565"/>
            <a:ext cx="10515600" cy="87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Multiple recommendation approaches were evaluated to balance relevance, variety, and fair catalog exposure under cold-start.</a:t>
            </a:r>
          </a:p>
        </p:txBody>
      </p:sp>
      <p:sp>
        <p:nvSpPr>
          <p:cNvPr id="5" name="Rectangle 4">
            <a:extLst>
              <a:ext uri="{FF2B5EF4-FFF2-40B4-BE49-F238E27FC236}">
                <a16:creationId xmlns:a16="http://schemas.microsoft.com/office/drawing/2014/main" id="{DD87FEF0-595E-9C73-4A7A-28ABAA2E7AC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9" name="Picture 8" descr="A graph of a bar chart&#10;&#10;AI-generated content may be incorrect.">
            <a:extLst>
              <a:ext uri="{FF2B5EF4-FFF2-40B4-BE49-F238E27FC236}">
                <a16:creationId xmlns:a16="http://schemas.microsoft.com/office/drawing/2014/main" id="{C0841E11-4A18-DDA8-EAC4-4801CF5E8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2578230"/>
            <a:ext cx="5257799" cy="3953864"/>
          </a:xfrm>
          <a:prstGeom prst="rect">
            <a:avLst/>
          </a:prstGeom>
        </p:spPr>
      </p:pic>
      <p:sp>
        <p:nvSpPr>
          <p:cNvPr id="15" name="Title 1">
            <a:extLst>
              <a:ext uri="{FF2B5EF4-FFF2-40B4-BE49-F238E27FC236}">
                <a16:creationId xmlns:a16="http://schemas.microsoft.com/office/drawing/2014/main" id="{35F4A905-05B5-21DA-E90F-A20263F3CEF0}"/>
              </a:ext>
            </a:extLst>
          </p:cNvPr>
          <p:cNvSpPr>
            <a:spLocks noGrp="1"/>
          </p:cNvSpPr>
          <p:nvPr>
            <p:ph type="title"/>
          </p:nvPr>
        </p:nvSpPr>
        <p:spPr>
          <a:xfrm>
            <a:off x="426720" y="443276"/>
            <a:ext cx="10515600" cy="549275"/>
          </a:xfrm>
        </p:spPr>
        <p:txBody>
          <a:bodyPr>
            <a:noAutofit/>
          </a:bodyPr>
          <a:lstStyle/>
          <a:p>
            <a:r>
              <a:rPr lang="en-US" sz="3400" b="1" dirty="0">
                <a:solidFill>
                  <a:srgbClr val="C00000"/>
                </a:solidFill>
                <a:latin typeface="Arial" panose="020B0604020202020204" pitchFamily="34" charset="0"/>
                <a:cs typeface="Arial" panose="020B0604020202020204" pitchFamily="34" charset="0"/>
              </a:rPr>
              <a:t>Model Evaluation &amp; Selection Rationale</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349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CF6CD-3114-4194-524B-322BEE966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42D6D-B185-7321-4519-0B6BA78DDD96}"/>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Final Model Selection &amp; Business Rationale</a:t>
            </a:r>
            <a:endParaRPr lang="en-PH" sz="3400" dirty="0"/>
          </a:p>
        </p:txBody>
      </p:sp>
      <p:sp>
        <p:nvSpPr>
          <p:cNvPr id="3" name="Content Placeholder 2">
            <a:extLst>
              <a:ext uri="{FF2B5EF4-FFF2-40B4-BE49-F238E27FC236}">
                <a16:creationId xmlns:a16="http://schemas.microsoft.com/office/drawing/2014/main" id="{8CBD36AE-8971-5FB8-A572-0C84093FDB7E}"/>
              </a:ext>
            </a:extLst>
          </p:cNvPr>
          <p:cNvSpPr>
            <a:spLocks noGrp="1"/>
          </p:cNvSpPr>
          <p:nvPr>
            <p:ph idx="1"/>
          </p:nvPr>
        </p:nvSpPr>
        <p:spPr>
          <a:xfrm>
            <a:off x="838200" y="1368425"/>
            <a:ext cx="10515600" cy="4351338"/>
          </a:xfrm>
        </p:spPr>
        <p:txBody>
          <a:bodyPr>
            <a:normAutofit/>
          </a:bodyPr>
          <a:lstStyle/>
          <a:p>
            <a:r>
              <a:rPr lang="en-US" sz="1800" b="1" dirty="0">
                <a:latin typeface="Arial" panose="020B0604020202020204" pitchFamily="34" charset="0"/>
                <a:cs typeface="Arial" panose="020B0604020202020204" pitchFamily="34" charset="0"/>
              </a:rPr>
              <a:t>Model Selection</a:t>
            </a:r>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Selected a semantic similarity model that prioritizes relevance while enforcing diversity and exposure, without user data.</a:t>
            </a:r>
          </a:p>
          <a:p>
            <a:r>
              <a:rPr lang="en-US" sz="1800" b="1" dirty="0">
                <a:latin typeface="Arial" panose="020B0604020202020204" pitchFamily="34" charset="0"/>
                <a:cs typeface="Arial" panose="020B0604020202020204" pitchFamily="34" charset="0"/>
              </a:rPr>
              <a:t>Business Rationale</a:t>
            </a:r>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Improves content discovery without excessive repetition.</a:t>
            </a:r>
          </a:p>
          <a:p>
            <a:pPr lvl="1"/>
            <a:r>
              <a:rPr lang="en-US" sz="1800" dirty="0">
                <a:latin typeface="Arial" panose="020B0604020202020204" pitchFamily="34" charset="0"/>
                <a:cs typeface="Arial" panose="020B0604020202020204" pitchFamily="34" charset="0"/>
              </a:rPr>
              <a:t>Supports fairer catalog exposure.</a:t>
            </a:r>
          </a:p>
          <a:p>
            <a:pPr lvl="1"/>
            <a:r>
              <a:rPr lang="en-US" sz="1800" dirty="0">
                <a:latin typeface="Arial" panose="020B0604020202020204" pitchFamily="34" charset="0"/>
                <a:cs typeface="Arial" panose="020B0604020202020204" pitchFamily="34" charset="0"/>
              </a:rPr>
              <a:t>Remains explainable, auditable, and suitable for cold-start deployment.</a:t>
            </a:r>
          </a:p>
        </p:txBody>
      </p:sp>
      <p:sp>
        <p:nvSpPr>
          <p:cNvPr id="4" name="Rectangle 3">
            <a:extLst>
              <a:ext uri="{FF2B5EF4-FFF2-40B4-BE49-F238E27FC236}">
                <a16:creationId xmlns:a16="http://schemas.microsoft.com/office/drawing/2014/main" id="{70999E3D-90DB-4BAF-01D1-A3D64BCCAAEE}"/>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7414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79B9-CC01-313A-7B96-D11B7233B7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2029E-06CB-9FBE-B8BC-9E60AC765C3E}"/>
              </a:ext>
            </a:extLst>
          </p:cNvPr>
          <p:cNvSpPr>
            <a:spLocks noGrp="1"/>
          </p:cNvSpPr>
          <p:nvPr>
            <p:ph idx="1"/>
          </p:nvPr>
        </p:nvSpPr>
        <p:spPr>
          <a:xfrm>
            <a:off x="838200" y="2222091"/>
            <a:ext cx="5257800" cy="3702541"/>
          </a:xfrm>
        </p:spPr>
        <p:txBody>
          <a:bodyPr>
            <a:noAutofit/>
          </a:bodyPr>
          <a:lstStyle/>
          <a:p>
            <a:r>
              <a:rPr lang="en-US" sz="1250" b="1" dirty="0">
                <a:latin typeface="Arial" panose="020B0604020202020204" pitchFamily="34" charset="0"/>
                <a:cs typeface="Arial" panose="020B0604020202020204" pitchFamily="34" charset="0"/>
              </a:rPr>
              <a:t>Observed Recommendation Quality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Anchor titles (e.g., Dick Johnson Is Dead, Ghost Rider, Show Dogs) return thematically and genre-consistent recommendations.</a:t>
            </a:r>
          </a:p>
          <a:p>
            <a:pPr lvl="1"/>
            <a:r>
              <a:rPr lang="en-US" sz="1250" dirty="0">
                <a:latin typeface="Arial" panose="020B0604020202020204" pitchFamily="34" charset="0"/>
                <a:cs typeface="Arial" panose="020B0604020202020204" pitchFamily="34" charset="0"/>
              </a:rPr>
              <a:t>Confirms semantic similarity captures meaningful content relationships beyond keyword overlap.</a:t>
            </a:r>
          </a:p>
          <a:p>
            <a:r>
              <a:rPr lang="en-US" sz="1250" b="1" dirty="0">
                <a:latin typeface="Arial" panose="020B0604020202020204" pitchFamily="34" charset="0"/>
                <a:cs typeface="Arial" panose="020B0604020202020204" pitchFamily="34" charset="0"/>
              </a:rPr>
              <a:t>Diversity &amp; Exposure Behavior</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Intra-List Diversity (ILD) varies appropriately by content type:</a:t>
            </a:r>
          </a:p>
          <a:p>
            <a:pPr lvl="2"/>
            <a:r>
              <a:rPr lang="en-US" sz="1250" dirty="0">
                <a:latin typeface="Arial" panose="020B0604020202020204" pitchFamily="34" charset="0"/>
                <a:cs typeface="Arial" panose="020B0604020202020204" pitchFamily="34" charset="0"/>
              </a:rPr>
              <a:t>Narrow titles show focused results; broader titles surface wider variety.</a:t>
            </a:r>
          </a:p>
          <a:p>
            <a:pPr lvl="1"/>
            <a:r>
              <a:rPr lang="en-US" sz="1250" dirty="0">
                <a:latin typeface="Arial" panose="020B0604020202020204" pitchFamily="34" charset="0"/>
                <a:cs typeface="Arial" panose="020B0604020202020204" pitchFamily="34" charset="0"/>
              </a:rPr>
              <a:t>Catalog Coverage remains consistent per Top-K list, reflecting controlled exposure rather than random drift.</a:t>
            </a:r>
          </a:p>
          <a:p>
            <a:r>
              <a:rPr lang="en-US" sz="1250" b="1" dirty="0">
                <a:latin typeface="Arial" panose="020B0604020202020204" pitchFamily="34" charset="0"/>
                <a:cs typeface="Arial" panose="020B0604020202020204" pitchFamily="34" charset="0"/>
              </a:rPr>
              <a:t>Stability Across Anchors</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Low variance in diversity and exposure metrics across multiple anchor titles.</a:t>
            </a:r>
          </a:p>
          <a:p>
            <a:pPr lvl="1"/>
            <a:r>
              <a:rPr lang="en-US" sz="1250" dirty="0">
                <a:latin typeface="Arial" panose="020B0604020202020204" pitchFamily="34" charset="0"/>
                <a:cs typeface="Arial" panose="020B0604020202020204" pitchFamily="34" charset="0"/>
              </a:rPr>
              <a:t>Demonstrates stable and predictable recommendation behavior, validated through multi-anchor evaluation.</a:t>
            </a:r>
          </a:p>
          <a:p>
            <a:r>
              <a:rPr lang="en-US" sz="1250" b="1" dirty="0">
                <a:latin typeface="Arial" panose="020B0604020202020204" pitchFamily="34" charset="0"/>
                <a:cs typeface="Arial" panose="020B0604020202020204" pitchFamily="34" charset="0"/>
              </a:rPr>
              <a:t>Business Interpretation</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These results confirm the system behaves consistently and predictably across different titles, reducing operational risk in real-world deployment.</a:t>
            </a:r>
          </a:p>
        </p:txBody>
      </p:sp>
      <p:sp>
        <p:nvSpPr>
          <p:cNvPr id="4" name="Content Placeholder 2">
            <a:extLst>
              <a:ext uri="{FF2B5EF4-FFF2-40B4-BE49-F238E27FC236}">
                <a16:creationId xmlns:a16="http://schemas.microsoft.com/office/drawing/2014/main" id="{72A141D7-5FD9-1B4A-C76E-2174E2B6596B}"/>
              </a:ext>
            </a:extLst>
          </p:cNvPr>
          <p:cNvSpPr txBox="1">
            <a:spLocks/>
          </p:cNvSpPr>
          <p:nvPr/>
        </p:nvSpPr>
        <p:spPr>
          <a:xfrm>
            <a:off x="838200" y="1170620"/>
            <a:ext cx="10515600" cy="87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The final recommender is evaluated using relevance, diversity, and exposure metrics selected to reflect real content discovery outcomes rather than technical accuracy alone. The system delivers consistent, relevant, and controlled recommendations across diverse titles, demonstrating stable behavior under cold-start and data-limited conditions.</a:t>
            </a:r>
          </a:p>
        </p:txBody>
      </p:sp>
      <p:sp>
        <p:nvSpPr>
          <p:cNvPr id="5" name="Rectangle 4">
            <a:extLst>
              <a:ext uri="{FF2B5EF4-FFF2-40B4-BE49-F238E27FC236}">
                <a16:creationId xmlns:a16="http://schemas.microsoft.com/office/drawing/2014/main" id="{C1F82F02-3507-28D2-70C6-0E962E55189C}"/>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itle 1">
            <a:extLst>
              <a:ext uri="{FF2B5EF4-FFF2-40B4-BE49-F238E27FC236}">
                <a16:creationId xmlns:a16="http://schemas.microsoft.com/office/drawing/2014/main" id="{DF6D83DF-7518-028F-4C9E-209D5BB0B936}"/>
              </a:ext>
            </a:extLst>
          </p:cNvPr>
          <p:cNvSpPr>
            <a:spLocks noGrp="1"/>
          </p:cNvSpPr>
          <p:nvPr>
            <p:ph type="title"/>
          </p:nvPr>
        </p:nvSpPr>
        <p:spPr>
          <a:xfrm>
            <a:off x="426720" y="443276"/>
            <a:ext cx="11677296" cy="549275"/>
          </a:xfrm>
        </p:spPr>
        <p:txBody>
          <a:bodyPr>
            <a:noAutofit/>
          </a:bodyPr>
          <a:lstStyle/>
          <a:p>
            <a:r>
              <a:rPr lang="en-US" sz="3100" b="1" dirty="0">
                <a:solidFill>
                  <a:srgbClr val="C00000"/>
                </a:solidFill>
                <a:latin typeface="Arial" panose="020B0604020202020204" pitchFamily="34" charset="0"/>
                <a:cs typeface="Arial" panose="020B0604020202020204" pitchFamily="34" charset="0"/>
              </a:rPr>
              <a:t>Recommendation Function Performance &amp; Validation</a:t>
            </a:r>
            <a:endParaRPr lang="en-PH" sz="3100" b="1" dirty="0">
              <a:solidFill>
                <a:srgbClr val="C00000"/>
              </a:solidFill>
              <a:latin typeface="Arial" panose="020B0604020202020204" pitchFamily="34" charset="0"/>
              <a:cs typeface="Arial" panose="020B0604020202020204" pitchFamily="34" charset="0"/>
            </a:endParaRPr>
          </a:p>
        </p:txBody>
      </p:sp>
      <p:pic>
        <p:nvPicPr>
          <p:cNvPr id="8" name="Picture 7" descr="A screenshot of a computer&#10;&#10;AI-generated content may be incorrect.">
            <a:extLst>
              <a:ext uri="{FF2B5EF4-FFF2-40B4-BE49-F238E27FC236}">
                <a16:creationId xmlns:a16="http://schemas.microsoft.com/office/drawing/2014/main" id="{A48D6C21-A01F-3393-2B43-C27358A0157F}"/>
              </a:ext>
            </a:extLst>
          </p:cNvPr>
          <p:cNvPicPr>
            <a:picLocks noChangeAspect="1"/>
          </p:cNvPicPr>
          <p:nvPr/>
        </p:nvPicPr>
        <p:blipFill>
          <a:blip r:embed="rId2"/>
          <a:stretch>
            <a:fillRect/>
          </a:stretch>
        </p:blipFill>
        <p:spPr>
          <a:xfrm>
            <a:off x="6096000" y="2222091"/>
            <a:ext cx="5258033" cy="1914143"/>
          </a:xfrm>
          <a:prstGeom prst="rect">
            <a:avLst/>
          </a:prstGeom>
        </p:spPr>
      </p:pic>
    </p:spTree>
    <p:extLst>
      <p:ext uri="{BB962C8B-B14F-4D97-AF65-F5344CB8AC3E}">
        <p14:creationId xmlns:p14="http://schemas.microsoft.com/office/powerpoint/2010/main" val="3717574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1BEF2-0BD6-C531-C673-C7F5E234B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21E6F-9447-5EFE-2012-3F13BAF9759B}"/>
              </a:ext>
            </a:extLst>
          </p:cNvPr>
          <p:cNvSpPr>
            <a:spLocks noGrp="1"/>
          </p:cNvSpPr>
          <p:nvPr>
            <p:ph type="title"/>
          </p:nvPr>
        </p:nvSpPr>
        <p:spPr>
          <a:xfrm>
            <a:off x="426720" y="365126"/>
            <a:ext cx="10927080" cy="715962"/>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Trust, Safety &amp; Ethical AI</a:t>
            </a:r>
            <a:endParaRPr lang="en-PH" sz="3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C2A8C4F-2FA4-E74B-3E8C-66B669E4DF01}"/>
              </a:ext>
            </a:extLst>
          </p:cNvPr>
          <p:cNvSpPr>
            <a:spLocks noGrp="1"/>
          </p:cNvSpPr>
          <p:nvPr>
            <p:ph idx="1"/>
          </p:nvPr>
        </p:nvSpPr>
        <p:spPr>
          <a:xfrm>
            <a:off x="848360" y="1205865"/>
            <a:ext cx="10515600" cy="1461921"/>
          </a:xfrm>
        </p:spPr>
        <p:txBody>
          <a:bodyPr>
            <a:normAutofit/>
          </a:bodyPr>
          <a:lstStyle/>
          <a:p>
            <a:pPr marL="0" indent="0" algn="just">
              <a:lnSpc>
                <a:spcPct val="110000"/>
              </a:lnSpc>
              <a:buNone/>
            </a:pPr>
            <a:r>
              <a:rPr lang="en-US" sz="2000" dirty="0">
                <a:latin typeface="Arial" panose="020B0604020202020204" pitchFamily="34" charset="0"/>
                <a:cs typeface="Arial" panose="020B0604020202020204" pitchFamily="34" charset="0"/>
              </a:rPr>
              <a:t>This solution is designed for transparency, fairness, and governance, ensuring responsible recommendations even under cold-start and data-limited conditions. Ethical risk is managed through explainable logic and measurable exposure controls rather than opaque user profiling.</a:t>
            </a:r>
          </a:p>
        </p:txBody>
      </p:sp>
      <p:sp>
        <p:nvSpPr>
          <p:cNvPr id="4" name="Rectangle 3">
            <a:extLst>
              <a:ext uri="{FF2B5EF4-FFF2-40B4-BE49-F238E27FC236}">
                <a16:creationId xmlns:a16="http://schemas.microsoft.com/office/drawing/2014/main" id="{8AE09B73-520A-FF02-495E-82EA1465EBE0}"/>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5" name="Content Placeholder 2">
            <a:extLst>
              <a:ext uri="{FF2B5EF4-FFF2-40B4-BE49-F238E27FC236}">
                <a16:creationId xmlns:a16="http://schemas.microsoft.com/office/drawing/2014/main" id="{EB1CD759-4D10-41DF-2F7D-C57FB5B79807}"/>
              </a:ext>
            </a:extLst>
          </p:cNvPr>
          <p:cNvSpPr txBox="1">
            <a:spLocks/>
          </p:cNvSpPr>
          <p:nvPr/>
        </p:nvSpPr>
        <p:spPr>
          <a:xfrm>
            <a:off x="848360" y="2667786"/>
            <a:ext cx="10515600" cy="33934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50" b="1" dirty="0">
                <a:latin typeface="Arial" panose="020B0604020202020204" pitchFamily="34" charset="0"/>
                <a:cs typeface="Arial" panose="020B0604020202020204" pitchFamily="34" charset="0"/>
              </a:rPr>
              <a:t>Transparency &amp; Explainability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Recommendations are clearly explainable using observable content signals (e.g., shared themes and keywords).</a:t>
            </a:r>
          </a:p>
          <a:p>
            <a:pPr lvl="1"/>
            <a:r>
              <a:rPr lang="en-US" sz="1250" dirty="0">
                <a:latin typeface="Arial" panose="020B0604020202020204" pitchFamily="34" charset="0"/>
                <a:cs typeface="Arial" panose="020B0604020202020204" pitchFamily="34" charset="0"/>
              </a:rPr>
              <a:t>Feature weighting is controlled and interpretable, avoiding black-box behavior.</a:t>
            </a:r>
          </a:p>
          <a:p>
            <a:pPr lvl="1"/>
            <a:r>
              <a:rPr lang="en-US" sz="1250" dirty="0">
                <a:latin typeface="Arial" panose="020B0604020202020204" pitchFamily="34" charset="0"/>
                <a:cs typeface="Arial" panose="020B0604020202020204" pitchFamily="34" charset="0"/>
              </a:rPr>
              <a:t>No user profiles, demographics, or behavioral predictions are used.</a:t>
            </a:r>
          </a:p>
          <a:p>
            <a:r>
              <a:rPr lang="en-US" sz="1250" b="1" dirty="0">
                <a:latin typeface="Arial" panose="020B0604020202020204" pitchFamily="34" charset="0"/>
                <a:cs typeface="Arial" panose="020B0604020202020204" pitchFamily="34" charset="0"/>
              </a:rPr>
              <a:t>Bias Risk Detection &amp; Control</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Reduces over-promotion of already dominant genres and regions, supporting fairer catalog exposure at platform scale.</a:t>
            </a:r>
          </a:p>
          <a:p>
            <a:pPr lvl="1"/>
            <a:r>
              <a:rPr lang="en-US" sz="1250" dirty="0">
                <a:latin typeface="Arial" panose="020B0604020202020204" pitchFamily="34" charset="0"/>
                <a:cs typeface="Arial" panose="020B0604020202020204" pitchFamily="34" charset="0"/>
              </a:rPr>
              <a:t>Identified exposure shifts are mitigated through Intra-List Diversity (ILD), balanced feature weighting, and coverage-aware hybrid similarity</a:t>
            </a:r>
          </a:p>
          <a:p>
            <a:r>
              <a:rPr lang="en-US" sz="1250" b="1" dirty="0">
                <a:latin typeface="Arial" panose="020B0604020202020204" pitchFamily="34" charset="0"/>
                <a:cs typeface="Arial" panose="020B0604020202020204" pitchFamily="34" charset="0"/>
              </a:rPr>
              <a:t>Governance &amp; Risk Impact</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Lower regulatory and privacy risk due to absence of user profiling.</a:t>
            </a:r>
          </a:p>
          <a:p>
            <a:pPr lvl="1"/>
            <a:r>
              <a:rPr lang="en-US" sz="1250" dirty="0">
                <a:latin typeface="Arial" panose="020B0604020202020204" pitchFamily="34" charset="0"/>
                <a:cs typeface="Arial" panose="020B0604020202020204" pitchFamily="34" charset="0"/>
              </a:rPr>
              <a:t>Auditable, controllable recommendation behavior aligned with Responsible AI principles.</a:t>
            </a:r>
          </a:p>
          <a:p>
            <a:pPr lvl="1"/>
            <a:r>
              <a:rPr lang="en-US" sz="1250" dirty="0">
                <a:latin typeface="Arial" panose="020B0604020202020204" pitchFamily="34" charset="0"/>
                <a:cs typeface="Arial" panose="020B0604020202020204" pitchFamily="34" charset="0"/>
              </a:rPr>
              <a:t>Suitable for large-scale deployment in cold-start and metadata-only environments.</a:t>
            </a:r>
          </a:p>
          <a:p>
            <a:r>
              <a:rPr lang="en-US" sz="1250" b="1" dirty="0">
                <a:latin typeface="Arial" panose="020B0604020202020204" pitchFamily="34" charset="0"/>
                <a:cs typeface="Arial" panose="020B0604020202020204" pitchFamily="34" charset="0"/>
              </a:rPr>
              <a:t>Future Readiness</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Provides a governance-ready foundation for future hybrid or personalized recommender extension.</a:t>
            </a:r>
          </a:p>
          <a:p>
            <a:r>
              <a:rPr lang="en-US" sz="1250" b="1" dirty="0">
                <a:latin typeface="Arial" panose="020B0604020202020204" pitchFamily="34" charset="0"/>
                <a:cs typeface="Arial" panose="020B0604020202020204" pitchFamily="34" charset="0"/>
              </a:rPr>
              <a:t>Key Takeaway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The system delivers explainable, bias-aware recommendations with low regulatory risk, supporting responsible and scalable deployment.</a:t>
            </a:r>
          </a:p>
        </p:txBody>
      </p:sp>
    </p:spTree>
    <p:extLst>
      <p:ext uri="{BB962C8B-B14F-4D97-AF65-F5344CB8AC3E}">
        <p14:creationId xmlns:p14="http://schemas.microsoft.com/office/powerpoint/2010/main" val="108269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EFC5-4AB1-FB51-E0EC-6DA74E492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BCE08-9047-2D0D-8CCF-A8DFE768B89E}"/>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Limitations &amp; Future Readiness</a:t>
            </a:r>
            <a:endParaRPr lang="en-PH" sz="3400" dirty="0"/>
          </a:p>
        </p:txBody>
      </p:sp>
      <p:sp>
        <p:nvSpPr>
          <p:cNvPr id="3" name="Content Placeholder 2">
            <a:extLst>
              <a:ext uri="{FF2B5EF4-FFF2-40B4-BE49-F238E27FC236}">
                <a16:creationId xmlns:a16="http://schemas.microsoft.com/office/drawing/2014/main" id="{7EDD8CB9-F193-547B-DF06-1504DBCEBEBE}"/>
              </a:ext>
            </a:extLst>
          </p:cNvPr>
          <p:cNvSpPr>
            <a:spLocks noGrp="1"/>
          </p:cNvSpPr>
          <p:nvPr>
            <p:ph idx="1"/>
          </p:nvPr>
        </p:nvSpPr>
        <p:spPr>
          <a:xfrm>
            <a:off x="838200" y="1368425"/>
            <a:ext cx="10515600" cy="4351338"/>
          </a:xfrm>
        </p:spPr>
        <p:txBody>
          <a:bodyPr>
            <a:normAutofit/>
          </a:bodyPr>
          <a:lstStyle/>
          <a:p>
            <a:r>
              <a:rPr lang="en-US" sz="2000" b="1" dirty="0">
                <a:latin typeface="Arial" panose="020B0604020202020204" pitchFamily="34" charset="0"/>
                <a:cs typeface="Arial" panose="020B0604020202020204" pitchFamily="34" charset="0"/>
              </a:rPr>
              <a:t>Current Limitations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Metadata-only approach; no personalization or real-time user signals.</a:t>
            </a:r>
          </a:p>
          <a:p>
            <a:pPr lvl="1"/>
            <a:r>
              <a:rPr lang="en-US" sz="2000" dirty="0">
                <a:latin typeface="Arial" panose="020B0604020202020204" pitchFamily="34" charset="0"/>
                <a:cs typeface="Arial" panose="020B0604020202020204" pitchFamily="34" charset="0"/>
              </a:rPr>
              <a:t>Top-K recommendations constrain catalog coverage by design.</a:t>
            </a:r>
          </a:p>
          <a:p>
            <a:pPr lvl="1"/>
            <a:r>
              <a:rPr lang="en-US" sz="2000" dirty="0">
                <a:latin typeface="Arial" panose="020B0604020202020204" pitchFamily="34" charset="0"/>
                <a:cs typeface="Arial" panose="020B0604020202020204" pitchFamily="34" charset="0"/>
              </a:rPr>
              <a:t>Semantic similarity reflects content signals, not individual taste.</a:t>
            </a:r>
          </a:p>
          <a:p>
            <a:r>
              <a:rPr lang="en-US" sz="2000" b="1" dirty="0">
                <a:latin typeface="Arial" panose="020B0604020202020204" pitchFamily="34" charset="0"/>
                <a:cs typeface="Arial" panose="020B0604020202020204" pitchFamily="34" charset="0"/>
              </a:rPr>
              <a:t>Future Readiness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Strong foundation for hybrid models (content + behavior).</a:t>
            </a:r>
          </a:p>
          <a:p>
            <a:pPr lvl="1"/>
            <a:r>
              <a:rPr lang="en-US" sz="2000" dirty="0">
                <a:latin typeface="Arial" panose="020B0604020202020204" pitchFamily="34" charset="0"/>
                <a:cs typeface="Arial" panose="020B0604020202020204" pitchFamily="34" charset="0"/>
              </a:rPr>
              <a:t>Can integrate user signals incrementally without redesign.</a:t>
            </a:r>
          </a:p>
          <a:p>
            <a:pPr lvl="1"/>
            <a:r>
              <a:rPr lang="en-US" sz="2000" dirty="0">
                <a:latin typeface="Arial" panose="020B0604020202020204" pitchFamily="34" charset="0"/>
                <a:cs typeface="Arial" panose="020B0604020202020204" pitchFamily="34" charset="0"/>
              </a:rPr>
              <a:t>Governance-safe starting point for scalable personalization.</a:t>
            </a:r>
          </a:p>
        </p:txBody>
      </p:sp>
      <p:sp>
        <p:nvSpPr>
          <p:cNvPr id="4" name="Rectangle 3">
            <a:extLst>
              <a:ext uri="{FF2B5EF4-FFF2-40B4-BE49-F238E27FC236}">
                <a16:creationId xmlns:a16="http://schemas.microsoft.com/office/drawing/2014/main" id="{97D57D9D-D673-E341-1273-ACA27D4B78B7}"/>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794523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0BC7A-A9BB-A646-26FF-7D0D9EBA7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C9422-770D-F789-DC10-C31FFBFC593B}"/>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Business Value &amp; Key Takeaways</a:t>
            </a:r>
            <a:endParaRPr lang="en-PH" sz="3400" dirty="0"/>
          </a:p>
        </p:txBody>
      </p:sp>
      <p:sp>
        <p:nvSpPr>
          <p:cNvPr id="3" name="Content Placeholder 2">
            <a:extLst>
              <a:ext uri="{FF2B5EF4-FFF2-40B4-BE49-F238E27FC236}">
                <a16:creationId xmlns:a16="http://schemas.microsoft.com/office/drawing/2014/main" id="{1ECA43BE-5CCF-1FD9-7128-A3CAA23784AD}"/>
              </a:ext>
            </a:extLst>
          </p:cNvPr>
          <p:cNvSpPr>
            <a:spLocks noGrp="1"/>
          </p:cNvSpPr>
          <p:nvPr>
            <p:ph idx="1"/>
          </p:nvPr>
        </p:nvSpPr>
        <p:spPr>
          <a:xfrm>
            <a:off x="838200" y="1368425"/>
            <a:ext cx="10515600" cy="4351338"/>
          </a:xfrm>
        </p:spPr>
        <p:txBody>
          <a:bodyPr>
            <a:normAutofit/>
          </a:bodyPr>
          <a:lstStyle/>
          <a:p>
            <a:r>
              <a:rPr lang="en-US" sz="2000" b="1" dirty="0">
                <a:latin typeface="Arial" panose="020B0604020202020204" pitchFamily="34" charset="0"/>
                <a:cs typeface="Arial" panose="020B0604020202020204" pitchFamily="34" charset="0"/>
              </a:rPr>
              <a:t>Business Impact</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Improves content discovery under cold-start and data-limited conditions.</a:t>
            </a:r>
          </a:p>
          <a:p>
            <a:pPr lvl="1"/>
            <a:r>
              <a:rPr lang="en-US" sz="2000" dirty="0">
                <a:latin typeface="Arial" panose="020B0604020202020204" pitchFamily="34" charset="0"/>
                <a:cs typeface="Arial" panose="020B0604020202020204" pitchFamily="34" charset="0"/>
              </a:rPr>
              <a:t>Reduces repetitive recommendations while maintaining relevance.</a:t>
            </a:r>
          </a:p>
          <a:p>
            <a:pPr lvl="1"/>
            <a:r>
              <a:rPr lang="en-US" sz="2000" dirty="0">
                <a:latin typeface="Arial" panose="020B0604020202020204" pitchFamily="34" charset="0"/>
                <a:cs typeface="Arial" panose="020B0604020202020204" pitchFamily="34" charset="0"/>
              </a:rPr>
              <a:t>Supports broader and fairer catalog exposure without relying on user profiling.</a:t>
            </a:r>
          </a:p>
          <a:p>
            <a:r>
              <a:rPr lang="en-US" sz="2000" b="1" dirty="0">
                <a:latin typeface="Arial" panose="020B0604020202020204" pitchFamily="34" charset="0"/>
                <a:cs typeface="Arial" panose="020B0604020202020204" pitchFamily="34" charset="0"/>
              </a:rPr>
              <a:t>Key Takeaways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A semantic, metadata-driven recommender can deliver strong discovery quality without user data.</a:t>
            </a:r>
          </a:p>
          <a:p>
            <a:pPr lvl="1"/>
            <a:r>
              <a:rPr lang="en-US" sz="2000" dirty="0">
                <a:latin typeface="Arial" panose="020B0604020202020204" pitchFamily="34" charset="0"/>
                <a:cs typeface="Arial" panose="020B0604020202020204" pitchFamily="34" charset="0"/>
              </a:rPr>
              <a:t>The solution behaves consistently, predictably, and transparently across content types.</a:t>
            </a:r>
          </a:p>
          <a:p>
            <a:pPr lvl="1"/>
            <a:r>
              <a:rPr lang="en-US" sz="2000" dirty="0">
                <a:latin typeface="Arial" panose="020B0604020202020204" pitchFamily="34" charset="0"/>
                <a:cs typeface="Arial" panose="020B0604020202020204" pitchFamily="34" charset="0"/>
              </a:rPr>
              <a:t>Provides a low-risk, explainable foundation that is ready for future personalization and scale.</a:t>
            </a:r>
          </a:p>
        </p:txBody>
      </p:sp>
      <p:sp>
        <p:nvSpPr>
          <p:cNvPr id="4" name="Rectangle 3">
            <a:extLst>
              <a:ext uri="{FF2B5EF4-FFF2-40B4-BE49-F238E27FC236}">
                <a16:creationId xmlns:a16="http://schemas.microsoft.com/office/drawing/2014/main" id="{A50B8F36-E3BA-8386-723C-C23492EC0FA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015688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TotalTime>
  <Words>1337</Words>
  <Application>Microsoft Office PowerPoint</Application>
  <PresentationFormat>Widescreen</PresentationFormat>
  <Paragraphs>124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Impact</vt:lpstr>
      <vt:lpstr>Office Theme</vt:lpstr>
      <vt:lpstr>Capstone: Improving Content Discovery on Netflix Under Cold-Start Conditions  An Explainable, Bias-Aware Recommendation Approach</vt:lpstr>
      <vt:lpstr>Business Problem and Proposed Solution</vt:lpstr>
      <vt:lpstr>Success Metrics (KPIs)</vt:lpstr>
      <vt:lpstr>Data Overview &amp; Readiness</vt:lpstr>
      <vt:lpstr>Proposed Solution: Metadata-Driven Recommender System</vt:lpstr>
      <vt:lpstr>Model Evaluation &amp; Selection Rationale</vt:lpstr>
      <vt:lpstr>Final Model Selection &amp; Business Rationale</vt:lpstr>
      <vt:lpstr>Recommendation Function Performance &amp; Validation</vt:lpstr>
      <vt:lpstr>Trust, Safety &amp; Ethical AI</vt:lpstr>
      <vt:lpstr>Limitations &amp; Future Readiness</vt:lpstr>
      <vt:lpstr>Business Value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Marvin Ford</dc:creator>
  <cp:lastModifiedBy>Marvin Ford</cp:lastModifiedBy>
  <cp:revision>12</cp:revision>
  <dcterms:created xsi:type="dcterms:W3CDTF">2025-12-22T16:11:00Z</dcterms:created>
  <dcterms:modified xsi:type="dcterms:W3CDTF">2025-12-24T18:44:53Z</dcterms:modified>
</cp:coreProperties>
</file>